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Britannic Bold" panose="020B0903060703020204" pitchFamily="34" charset="0"/>
      <p:regular r:id="rId13"/>
    </p:embeddedFont>
    <p:embeddedFont>
      <p:font typeface="Roboto" panose="02000000000000000000" pitchFamily="2" charset="0"/>
      <p:regular r:id="rId14"/>
    </p:embeddedFont>
    <p:embeddedFont>
      <p:font typeface="Roboto Bold" panose="020B0604020202020204" charset="0"/>
      <p:regular r:id="rId15"/>
    </p:embeddedFont>
    <p:embeddedFont>
      <p:font typeface="Rockwell Extra Bold" panose="02060903040505020403" pitchFamily="18" charset="0"/>
      <p:bold r:id="rId16"/>
    </p:embeddedFont>
    <p:embeddedFont>
      <p:font typeface="Saira Medium"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150" autoAdjust="0"/>
  </p:normalViewPr>
  <p:slideViewPr>
    <p:cSldViewPr snapToGrid="0" snapToObjects="1">
      <p:cViewPr varScale="1">
        <p:scale>
          <a:sx n="73" d="100"/>
          <a:sy n="73" d="100"/>
        </p:scale>
        <p:origin x="10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58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30303">
              <a:alpha val="80000"/>
            </a:srgbClr>
          </a:solidFill>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0.sv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0"/>
            <a:ext cx="4990213" cy="6858000"/>
          </a:xfrm>
          <a:prstGeom prst="rect">
            <a:avLst/>
          </a:prstGeom>
        </p:spPr>
      </p:pic>
      <p:sp>
        <p:nvSpPr>
          <p:cNvPr id="3" name="Text 0"/>
          <p:cNvSpPr/>
          <p:nvPr/>
        </p:nvSpPr>
        <p:spPr>
          <a:xfrm rot="10800000" flipV="1">
            <a:off x="5147291" y="1030734"/>
            <a:ext cx="6726619" cy="845198"/>
          </a:xfrm>
          <a:prstGeom prst="rect">
            <a:avLst/>
          </a:prstGeom>
          <a:noFill/>
          <a:ln/>
        </p:spPr>
        <p:txBody>
          <a:bodyPr wrap="square" lIns="0" tIns="0" rIns="0" bIns="0" rtlCol="0" anchor="t">
            <a:noAutofit/>
          </a:bodyPr>
          <a:lstStyle/>
          <a:p>
            <a:pPr marL="0" indent="0" algn="ctr">
              <a:buNone/>
            </a:pPr>
            <a:r>
              <a:rPr lang="en-US" sz="4800" dirty="0">
                <a:solidFill>
                  <a:srgbClr val="FFFFFF"/>
                </a:solidFill>
                <a:latin typeface="Britannic Bold" panose="020B0903060703020204" pitchFamily="34" charset="0"/>
                <a:ea typeface="Saira Medium" pitchFamily="34" charset="-122"/>
                <a:cs typeface="Saira Medium" pitchFamily="34" charset="-120"/>
              </a:rPr>
              <a:t>Chess Game &amp; Move Management System</a:t>
            </a:r>
            <a:endParaRPr lang="en-US" sz="4800" dirty="0">
              <a:latin typeface="Britannic Bold" panose="020B0903060703020204" pitchFamily="34" charset="0"/>
            </a:endParaRPr>
          </a:p>
        </p:txBody>
      </p:sp>
      <p:sp>
        <p:nvSpPr>
          <p:cNvPr id="4" name="Text 1"/>
          <p:cNvSpPr/>
          <p:nvPr/>
        </p:nvSpPr>
        <p:spPr>
          <a:xfrm>
            <a:off x="5562661" y="2867074"/>
            <a:ext cx="6223838" cy="676186"/>
          </a:xfrm>
          <a:prstGeom prst="rect">
            <a:avLst/>
          </a:prstGeom>
          <a:noFill/>
          <a:ln/>
        </p:spPr>
        <p:txBody>
          <a:bodyPr wrap="square" lIns="0" tIns="0" rIns="0" bIns="0" rtlCol="0" anchor="t">
            <a:normAutofit fontScale="85000" lnSpcReduction="10000"/>
          </a:bodyPr>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An offline two-player chess application that brings core data structures to life — from linked lists to binary search trees — all within a fully playable game.</a:t>
            </a:r>
            <a:endParaRPr lang="en-US" sz="1600" dirty="0"/>
          </a:p>
        </p:txBody>
      </p:sp>
      <p:sp>
        <p:nvSpPr>
          <p:cNvPr id="5" name="Shape 2"/>
          <p:cNvSpPr/>
          <p:nvPr/>
        </p:nvSpPr>
        <p:spPr>
          <a:xfrm>
            <a:off x="6817058" y="566464"/>
            <a:ext cx="2442308" cy="312638"/>
          </a:xfrm>
          <a:prstGeom prst="roundRect">
            <a:avLst>
              <a:gd name="adj" fmla="val 47380"/>
            </a:avLst>
          </a:prstGeom>
          <a:solidFill>
            <a:srgbClr val="4B1E01"/>
          </a:solidFill>
          <a:ln/>
        </p:spPr>
      </p:sp>
      <p:sp>
        <p:nvSpPr>
          <p:cNvPr id="6" name="Text 3"/>
          <p:cNvSpPr/>
          <p:nvPr/>
        </p:nvSpPr>
        <p:spPr>
          <a:xfrm>
            <a:off x="6961794" y="655256"/>
            <a:ext cx="2805042" cy="189210"/>
          </a:xfrm>
          <a:prstGeom prst="rect">
            <a:avLst/>
          </a:prstGeom>
          <a:noFill/>
          <a:ln/>
        </p:spPr>
        <p:txBody>
          <a:bodyPr wrap="none" lIns="0" tIns="0" rIns="0" bIns="0" rtlCol="0" anchor="t"/>
          <a:lstStyle/>
          <a:p>
            <a:pPr marL="0" indent="0" algn="l">
              <a:lnSpc>
                <a:spcPct val="96000"/>
              </a:lnSpc>
              <a:buNone/>
            </a:pPr>
            <a:r>
              <a:rPr lang="en-US" sz="1250" dirty="0">
                <a:solidFill>
                  <a:srgbClr val="E5E0DF"/>
                </a:solidFill>
                <a:latin typeface="Roboto" pitchFamily="34" charset="0"/>
                <a:ea typeface="Roboto" pitchFamily="34" charset="-122"/>
                <a:cs typeface="Roboto" pitchFamily="34" charset="-120"/>
              </a:rPr>
              <a:t>DATA STRUCTURES PROJECT</a:t>
            </a:r>
            <a:endParaRPr lang="en-US" sz="1250" dirty="0"/>
          </a:p>
        </p:txBody>
      </p:sp>
      <p:sp>
        <p:nvSpPr>
          <p:cNvPr id="7" name="Shape 4"/>
          <p:cNvSpPr/>
          <p:nvPr/>
        </p:nvSpPr>
        <p:spPr>
          <a:xfrm>
            <a:off x="7693031" y="4679355"/>
            <a:ext cx="1815955" cy="312638"/>
          </a:xfrm>
          <a:prstGeom prst="roundRect">
            <a:avLst>
              <a:gd name="adj" fmla="val 47380"/>
            </a:avLst>
          </a:prstGeom>
          <a:noFill/>
          <a:ln w="19050">
            <a:solidFill>
              <a:srgbClr val="FC8337"/>
            </a:solidFill>
            <a:prstDash val="solid"/>
          </a:ln>
        </p:spPr>
      </p:sp>
      <p:sp>
        <p:nvSpPr>
          <p:cNvPr id="8" name="Text 5"/>
          <p:cNvSpPr/>
          <p:nvPr/>
        </p:nvSpPr>
        <p:spPr>
          <a:xfrm>
            <a:off x="7816456" y="4741069"/>
            <a:ext cx="2178690" cy="189210"/>
          </a:xfrm>
          <a:prstGeom prst="rect">
            <a:avLst/>
          </a:prstGeom>
          <a:noFill/>
          <a:ln/>
        </p:spPr>
        <p:txBody>
          <a:bodyPr wrap="none" lIns="0" tIns="0" rIns="0" bIns="0" rtlCol="0" anchor="t"/>
          <a:lstStyle/>
          <a:p>
            <a:pPr marL="0" indent="0" algn="l">
              <a:lnSpc>
                <a:spcPct val="96000"/>
              </a:lnSpc>
              <a:buNone/>
            </a:pPr>
            <a:r>
              <a:rPr lang="en-US" sz="1250" dirty="0">
                <a:solidFill>
                  <a:srgbClr val="FC8337"/>
                </a:solidFill>
                <a:latin typeface="Roboto" pitchFamily="34" charset="0"/>
                <a:ea typeface="Roboto" pitchFamily="34" charset="-122"/>
                <a:cs typeface="Roboto" pitchFamily="34" charset="-120"/>
              </a:rPr>
              <a:t>COMPUTER SCIENCE</a:t>
            </a:r>
            <a:endParaRPr lang="en-US" sz="1250" dirty="0"/>
          </a:p>
        </p:txBody>
      </p:sp>
      <p:pic>
        <p:nvPicPr>
          <p:cNvPr id="10" name="Picture 9">
            <a:extLst>
              <a:ext uri="{FF2B5EF4-FFF2-40B4-BE49-F238E27FC236}">
                <a16:creationId xmlns:a16="http://schemas.microsoft.com/office/drawing/2014/main" id="{1B6C9C02-6535-8B7B-9773-67AB8C34C71E}"/>
              </a:ext>
            </a:extLst>
          </p:cNvPr>
          <p:cNvPicPr>
            <a:picLocks noChangeAspect="1"/>
          </p:cNvPicPr>
          <p:nvPr/>
        </p:nvPicPr>
        <p:blipFill>
          <a:blip r:embed="rId4"/>
          <a:stretch>
            <a:fillRect/>
          </a:stretch>
        </p:blipFill>
        <p:spPr>
          <a:xfrm>
            <a:off x="10307139" y="6499721"/>
            <a:ext cx="1884861" cy="358279"/>
          </a:xfrm>
          <a:prstGeom prst="rect">
            <a:avLst/>
          </a:prstGeom>
        </p:spPr>
      </p:pic>
      <p:pic>
        <p:nvPicPr>
          <p:cNvPr id="11" name="Picture 10">
            <a:extLst>
              <a:ext uri="{FF2B5EF4-FFF2-40B4-BE49-F238E27FC236}">
                <a16:creationId xmlns:a16="http://schemas.microsoft.com/office/drawing/2014/main" id="{7D197846-CD80-06DB-A9A9-E3E8D5D6A1C2}"/>
              </a:ext>
            </a:extLst>
          </p:cNvPr>
          <p:cNvPicPr>
            <a:picLocks noChangeAspect="1"/>
          </p:cNvPicPr>
          <p:nvPr/>
        </p:nvPicPr>
        <p:blipFill>
          <a:blip r:embed="rId4"/>
          <a:stretch>
            <a:fillRect/>
          </a:stretch>
        </p:blipFill>
        <p:spPr>
          <a:xfrm>
            <a:off x="7590243" y="4614493"/>
            <a:ext cx="2327212" cy="442362"/>
          </a:xfrm>
          <a:prstGeom prst="rect">
            <a:avLst/>
          </a:prstGeom>
        </p:spPr>
      </p:pic>
      <p:sp>
        <p:nvSpPr>
          <p:cNvPr id="15" name="TextBox 14">
            <a:extLst>
              <a:ext uri="{FF2B5EF4-FFF2-40B4-BE49-F238E27FC236}">
                <a16:creationId xmlns:a16="http://schemas.microsoft.com/office/drawing/2014/main" id="{AE460130-B6A9-6FD0-5CF9-1174D6DDB577}"/>
              </a:ext>
            </a:extLst>
          </p:cNvPr>
          <p:cNvSpPr txBox="1"/>
          <p:nvPr/>
        </p:nvSpPr>
        <p:spPr>
          <a:xfrm>
            <a:off x="5462600" y="3990926"/>
            <a:ext cx="6096000" cy="1477328"/>
          </a:xfrm>
          <a:prstGeom prst="rect">
            <a:avLst/>
          </a:prstGeom>
          <a:noFill/>
        </p:spPr>
        <p:txBody>
          <a:bodyPr wrap="square">
            <a:spAutoFit/>
          </a:bodyPr>
          <a:lstStyle/>
          <a:p>
            <a:r>
              <a:rPr lang="en-IN" dirty="0">
                <a:solidFill>
                  <a:schemeClr val="bg2"/>
                </a:solidFill>
              </a:rPr>
              <a:t>Team : </a:t>
            </a:r>
          </a:p>
          <a:p>
            <a:r>
              <a:rPr lang="en-IN" dirty="0">
                <a:solidFill>
                  <a:schemeClr val="bg2"/>
                </a:solidFill>
              </a:rPr>
              <a:t>Prachiti Suryawanshi - 1262252177</a:t>
            </a:r>
          </a:p>
          <a:p>
            <a:r>
              <a:rPr lang="en-IN" dirty="0">
                <a:solidFill>
                  <a:schemeClr val="bg2"/>
                </a:solidFill>
              </a:rPr>
              <a:t>Paulson Fernandes - 1262252416</a:t>
            </a:r>
          </a:p>
          <a:p>
            <a:r>
              <a:rPr lang="en-IN" dirty="0">
                <a:solidFill>
                  <a:schemeClr val="bg2"/>
                </a:solidFill>
              </a:rPr>
              <a:t>Sejal </a:t>
            </a:r>
            <a:r>
              <a:rPr lang="en-IN" dirty="0" err="1">
                <a:solidFill>
                  <a:schemeClr val="bg2"/>
                </a:solidFill>
              </a:rPr>
              <a:t>Talele</a:t>
            </a:r>
            <a:r>
              <a:rPr lang="en-IN" dirty="0">
                <a:solidFill>
                  <a:schemeClr val="bg2"/>
                </a:solidFill>
              </a:rPr>
              <a:t> - 1262252623</a:t>
            </a:r>
          </a:p>
          <a:p>
            <a:r>
              <a:rPr lang="en-IN" dirty="0">
                <a:solidFill>
                  <a:schemeClr val="bg2"/>
                </a:solidFill>
              </a:rPr>
              <a:t>Shreya </a:t>
            </a:r>
            <a:r>
              <a:rPr lang="en-IN" dirty="0" err="1">
                <a:solidFill>
                  <a:schemeClr val="bg2"/>
                </a:solidFill>
              </a:rPr>
              <a:t>Khandade</a:t>
            </a:r>
            <a:r>
              <a:rPr lang="en-IN" dirty="0">
                <a:solidFill>
                  <a:schemeClr val="bg2"/>
                </a:solidFill>
              </a:rPr>
              <a:t> - 1262253082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6050" y="283779"/>
            <a:ext cx="11039596" cy="603435"/>
          </a:xfrm>
          <a:prstGeom prst="rect">
            <a:avLst/>
          </a:prstGeom>
          <a:noFill/>
          <a:ln/>
        </p:spPr>
        <p:txBody>
          <a:bodyPr wrap="none" lIns="0" tIns="0" rIns="0" bIns="0" rtlCol="0" anchor="t"/>
          <a:lstStyle/>
          <a:p>
            <a:pPr marL="0" indent="0" algn="l">
              <a:lnSpc>
                <a:spcPct val="104000"/>
              </a:lnSpc>
              <a:buNone/>
            </a:pPr>
            <a:r>
              <a:rPr lang="en-US" sz="2800" dirty="0">
                <a:solidFill>
                  <a:srgbClr val="FFFFFF"/>
                </a:solidFill>
                <a:latin typeface="Saira Medium" pitchFamily="34" charset="0"/>
                <a:ea typeface="Saira Medium" pitchFamily="34" charset="-122"/>
                <a:cs typeface="Saira Medium" pitchFamily="34" charset="-120"/>
              </a:rPr>
              <a:t>Project</a:t>
            </a:r>
            <a:r>
              <a:rPr lang="en-US" sz="2000" dirty="0">
                <a:solidFill>
                  <a:srgbClr val="FFFFFF"/>
                </a:solidFill>
                <a:latin typeface="Saira Medium" pitchFamily="34" charset="0"/>
                <a:ea typeface="Saira Medium" pitchFamily="34" charset="-122"/>
                <a:cs typeface="Saira Medium" pitchFamily="34" charset="-120"/>
              </a:rPr>
              <a:t> </a:t>
            </a:r>
            <a:r>
              <a:rPr lang="en-US" sz="2800" dirty="0">
                <a:solidFill>
                  <a:srgbClr val="FFFFFF"/>
                </a:solidFill>
                <a:latin typeface="Saira Medium" pitchFamily="34" charset="0"/>
                <a:ea typeface="Saira Medium" pitchFamily="34" charset="-122"/>
                <a:cs typeface="Saira Medium" pitchFamily="34" charset="-120"/>
              </a:rPr>
              <a:t>Overview</a:t>
            </a:r>
            <a:endParaRPr lang="en-US" sz="2800" dirty="0"/>
          </a:p>
        </p:txBody>
      </p:sp>
      <p:pic>
        <p:nvPicPr>
          <p:cNvPr id="3" name="Image 0" descr="preencoded.png"/>
          <p:cNvPicPr>
            <a:picLocks noChangeAspect="1"/>
          </p:cNvPicPr>
          <p:nvPr/>
        </p:nvPicPr>
        <p:blipFill>
          <a:blip r:embed="rId3"/>
          <a:stretch>
            <a:fillRect/>
          </a:stretch>
        </p:blipFill>
        <p:spPr>
          <a:xfrm>
            <a:off x="576050" y="1022152"/>
            <a:ext cx="7087911" cy="5552069"/>
          </a:xfrm>
          <a:prstGeom prst="rect">
            <a:avLst/>
          </a:prstGeom>
        </p:spPr>
      </p:pic>
      <p:sp>
        <p:nvSpPr>
          <p:cNvPr id="4" name="Text 1"/>
          <p:cNvSpPr/>
          <p:nvPr/>
        </p:nvSpPr>
        <p:spPr>
          <a:xfrm>
            <a:off x="8008883" y="1800808"/>
            <a:ext cx="3794234" cy="3732245"/>
          </a:xfrm>
          <a:prstGeom prst="rect">
            <a:avLst/>
          </a:prstGeom>
          <a:noFill/>
          <a:ln/>
        </p:spPr>
        <p:txBody>
          <a:bodyPr wrap="square" lIns="0" tIns="0" rIns="0" bIns="0" rtlCol="0" anchor="t">
            <a:normAutofit/>
          </a:bodyPr>
          <a:lstStyle/>
          <a:p>
            <a:pPr marL="0" indent="0" algn="l">
              <a:lnSpc>
                <a:spcPct val="100000"/>
              </a:lnSpc>
              <a:spcAft>
                <a:spcPts val="350"/>
              </a:spcAft>
              <a:buNone/>
            </a:pPr>
            <a:r>
              <a:rPr lang="en-US" b="1" dirty="0">
                <a:solidFill>
                  <a:srgbClr val="E5E0DF"/>
                </a:solidFill>
                <a:latin typeface="Roboto Bold" pitchFamily="34" charset="0"/>
                <a:ea typeface="Roboto Bold" pitchFamily="34" charset="-122"/>
                <a:cs typeface="Roboto Bold" pitchFamily="34" charset="-120"/>
              </a:rPr>
              <a:t>Chess Game &amp; Move Management System</a:t>
            </a:r>
            <a:r>
              <a:rPr lang="en-US" dirty="0">
                <a:solidFill>
                  <a:srgbClr val="E5E0DF"/>
                </a:solidFill>
                <a:latin typeface="Roboto" pitchFamily="34" charset="0"/>
                <a:ea typeface="Roboto" pitchFamily="34" charset="-122"/>
                <a:cs typeface="Roboto" pitchFamily="34" charset="-120"/>
              </a:rPr>
              <a:t> is an offline two-player chess app. Players enter their names and play a full game with core rules like castling, en passant, pawn promotion, and draw detection.</a:t>
            </a:r>
          </a:p>
          <a:p>
            <a:pPr marL="0" indent="0" algn="l">
              <a:lnSpc>
                <a:spcPct val="100000"/>
              </a:lnSpc>
              <a:spcAft>
                <a:spcPts val="350"/>
              </a:spcAft>
              <a:buNone/>
            </a:pPr>
            <a:endParaRPr lang="en-US" dirty="0"/>
          </a:p>
          <a:p>
            <a:pPr marL="0" indent="0" algn="l">
              <a:lnSpc>
                <a:spcPct val="100000"/>
              </a:lnSpc>
              <a:buNone/>
            </a:pPr>
            <a:r>
              <a:rPr lang="en-US" dirty="0">
                <a:solidFill>
                  <a:srgbClr val="E5E0DF"/>
                </a:solidFill>
                <a:latin typeface="Roboto" pitchFamily="34" charset="0"/>
                <a:ea typeface="Roboto" pitchFamily="34" charset="-122"/>
                <a:cs typeface="Roboto" pitchFamily="34" charset="-120"/>
              </a:rPr>
              <a:t>It also includes move history, undo/redo, captured pieces, game stats, save/load, and rankings — all built with carefully chosen data structures.</a:t>
            </a:r>
            <a:endParaRPr lang="en-US" dirty="0"/>
          </a:p>
        </p:txBody>
      </p:sp>
      <p:pic>
        <p:nvPicPr>
          <p:cNvPr id="6" name="Picture 5">
            <a:extLst>
              <a:ext uri="{FF2B5EF4-FFF2-40B4-BE49-F238E27FC236}">
                <a16:creationId xmlns:a16="http://schemas.microsoft.com/office/drawing/2014/main" id="{C103EB70-7AFB-64BD-B244-E51157B5CF22}"/>
              </a:ext>
            </a:extLst>
          </p:cNvPr>
          <p:cNvPicPr>
            <a:picLocks noChangeAspect="1"/>
          </p:cNvPicPr>
          <p:nvPr/>
        </p:nvPicPr>
        <p:blipFill>
          <a:blip r:embed="rId4"/>
          <a:stretch>
            <a:fillRect/>
          </a:stretch>
        </p:blipFill>
        <p:spPr>
          <a:xfrm>
            <a:off x="10251842" y="6446647"/>
            <a:ext cx="1940158" cy="3687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147935" y="634206"/>
            <a:ext cx="6467710" cy="1285875"/>
          </a:xfrm>
          <a:prstGeom prst="rect">
            <a:avLst/>
          </a:prstGeom>
          <a:noFill/>
          <a:ln/>
        </p:spPr>
        <p:txBody>
          <a:bodyPr wrap="square" lIns="0" tIns="0" rIns="0" bIns="0" rtlCol="0" anchor="t">
            <a:normAutofit/>
          </a:bodyPr>
          <a:lstStyle/>
          <a:p>
            <a:pPr marL="0" indent="0" algn="l">
              <a:lnSpc>
                <a:spcPct val="104000"/>
              </a:lnSpc>
              <a:buNone/>
            </a:pPr>
            <a:r>
              <a:rPr lang="en-US" sz="4000" dirty="0">
                <a:solidFill>
                  <a:srgbClr val="FFFFFF"/>
                </a:solidFill>
                <a:latin typeface="Saira Medium" pitchFamily="34" charset="0"/>
                <a:ea typeface="Saira Medium" pitchFamily="34" charset="-122"/>
                <a:cs typeface="Saira Medium" pitchFamily="34" charset="-120"/>
              </a:rPr>
              <a:t>Complete Chess Rule Implementation</a:t>
            </a:r>
            <a:endParaRPr lang="en-US" sz="4000" dirty="0"/>
          </a:p>
        </p:txBody>
      </p:sp>
      <p:sp>
        <p:nvSpPr>
          <p:cNvPr id="4" name="Shape 1"/>
          <p:cNvSpPr/>
          <p:nvPr/>
        </p:nvSpPr>
        <p:spPr>
          <a:xfrm>
            <a:off x="5147935" y="2228652"/>
            <a:ext cx="3130968" cy="2223889"/>
          </a:xfrm>
          <a:prstGeom prst="roundRect">
            <a:avLst>
              <a:gd name="adj" fmla="val 8326"/>
            </a:avLst>
          </a:prstGeom>
          <a:solidFill>
            <a:srgbClr val="030303"/>
          </a:solidFill>
          <a:ln w="25399">
            <a:solidFill>
              <a:srgbClr val="FC8337"/>
            </a:solidFill>
            <a:prstDash val="solid"/>
          </a:ln>
        </p:spPr>
      </p:sp>
      <p:sp>
        <p:nvSpPr>
          <p:cNvPr id="5" name="Text 2"/>
          <p:cNvSpPr/>
          <p:nvPr/>
        </p:nvSpPr>
        <p:spPr>
          <a:xfrm>
            <a:off x="5379010" y="2459732"/>
            <a:ext cx="2668818" cy="321469"/>
          </a:xfrm>
          <a:prstGeom prst="rect">
            <a:avLst/>
          </a:prstGeom>
          <a:noFill/>
          <a:ln/>
        </p:spPr>
        <p:txBody>
          <a:bodyPr wrap="none" lIns="0" tIns="0" rIns="0" bIns="0" rtlCol="0" anchor="t"/>
          <a:lstStyle/>
          <a:p>
            <a:pPr marL="0" indent="0" algn="l">
              <a:lnSpc>
                <a:spcPct val="104000"/>
              </a:lnSpc>
              <a:buNone/>
            </a:pPr>
            <a:r>
              <a:rPr lang="en-US" sz="2000" dirty="0">
                <a:solidFill>
                  <a:srgbClr val="E5E0DF"/>
                </a:solidFill>
                <a:latin typeface="Saira Medium" pitchFamily="34" charset="0"/>
                <a:ea typeface="Saira Medium" pitchFamily="34" charset="-122"/>
                <a:cs typeface="Saira Medium" pitchFamily="34" charset="-120"/>
              </a:rPr>
              <a:t>Movement &amp; Captures</a:t>
            </a:r>
            <a:endParaRPr lang="en-US" sz="2000" dirty="0"/>
          </a:p>
        </p:txBody>
      </p:sp>
      <p:sp>
        <p:nvSpPr>
          <p:cNvPr id="6" name="Text 3"/>
          <p:cNvSpPr/>
          <p:nvPr/>
        </p:nvSpPr>
        <p:spPr>
          <a:xfrm>
            <a:off x="5379010" y="2904629"/>
            <a:ext cx="2668818" cy="1316831"/>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Legal move validation for all six piece types, including captures and check detection.</a:t>
            </a:r>
            <a:endParaRPr lang="en-US" sz="1600" dirty="0"/>
          </a:p>
        </p:txBody>
      </p:sp>
      <p:sp>
        <p:nvSpPr>
          <p:cNvPr id="7" name="Shape 4"/>
          <p:cNvSpPr/>
          <p:nvPr/>
        </p:nvSpPr>
        <p:spPr>
          <a:xfrm>
            <a:off x="8484578" y="2228652"/>
            <a:ext cx="3131067" cy="2223889"/>
          </a:xfrm>
          <a:prstGeom prst="roundRect">
            <a:avLst>
              <a:gd name="adj" fmla="val 8326"/>
            </a:avLst>
          </a:prstGeom>
          <a:solidFill>
            <a:srgbClr val="030303"/>
          </a:solidFill>
          <a:ln w="25399">
            <a:solidFill>
              <a:srgbClr val="FC8337"/>
            </a:solidFill>
            <a:prstDash val="solid"/>
          </a:ln>
        </p:spPr>
      </p:sp>
      <p:sp>
        <p:nvSpPr>
          <p:cNvPr id="8" name="Text 5"/>
          <p:cNvSpPr/>
          <p:nvPr/>
        </p:nvSpPr>
        <p:spPr>
          <a:xfrm>
            <a:off x="8715653" y="2459732"/>
            <a:ext cx="2668918" cy="321469"/>
          </a:xfrm>
          <a:prstGeom prst="rect">
            <a:avLst/>
          </a:prstGeom>
          <a:noFill/>
          <a:ln/>
        </p:spPr>
        <p:txBody>
          <a:bodyPr wrap="none" lIns="0" tIns="0" rIns="0" bIns="0" rtlCol="0" anchor="t"/>
          <a:lstStyle/>
          <a:p>
            <a:pPr marL="0" indent="0" algn="l">
              <a:lnSpc>
                <a:spcPct val="104000"/>
              </a:lnSpc>
              <a:buNone/>
            </a:pPr>
            <a:r>
              <a:rPr lang="en-US" sz="2000" dirty="0">
                <a:solidFill>
                  <a:srgbClr val="E5E0DF"/>
                </a:solidFill>
                <a:latin typeface="Saira Medium" pitchFamily="34" charset="0"/>
                <a:ea typeface="Saira Medium" pitchFamily="34" charset="-122"/>
                <a:cs typeface="Saira Medium" pitchFamily="34" charset="-120"/>
              </a:rPr>
              <a:t>Special Moves</a:t>
            </a:r>
            <a:endParaRPr lang="en-US" sz="2000" dirty="0"/>
          </a:p>
        </p:txBody>
      </p:sp>
      <p:sp>
        <p:nvSpPr>
          <p:cNvPr id="9" name="Text 6"/>
          <p:cNvSpPr/>
          <p:nvPr/>
        </p:nvSpPr>
        <p:spPr>
          <a:xfrm>
            <a:off x="8715653" y="2904629"/>
            <a:ext cx="2668918" cy="1316831"/>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Castling, en passant, and pawn promotion are fully implemented with rule-based validation.</a:t>
            </a:r>
            <a:endParaRPr lang="en-US" sz="1600" dirty="0"/>
          </a:p>
        </p:txBody>
      </p:sp>
      <p:sp>
        <p:nvSpPr>
          <p:cNvPr id="10" name="Shape 7"/>
          <p:cNvSpPr/>
          <p:nvPr/>
        </p:nvSpPr>
        <p:spPr>
          <a:xfrm>
            <a:off x="5147935" y="4658221"/>
            <a:ext cx="6467710" cy="1565473"/>
          </a:xfrm>
          <a:prstGeom prst="roundRect">
            <a:avLst>
              <a:gd name="adj" fmla="val 11828"/>
            </a:avLst>
          </a:prstGeom>
          <a:solidFill>
            <a:srgbClr val="030303"/>
          </a:solidFill>
          <a:ln w="25399">
            <a:solidFill>
              <a:srgbClr val="FC8337"/>
            </a:solidFill>
            <a:prstDash val="solid"/>
          </a:ln>
        </p:spPr>
      </p:sp>
      <p:sp>
        <p:nvSpPr>
          <p:cNvPr id="11" name="Text 8"/>
          <p:cNvSpPr/>
          <p:nvPr/>
        </p:nvSpPr>
        <p:spPr>
          <a:xfrm>
            <a:off x="5379010" y="4889302"/>
            <a:ext cx="6005561" cy="321469"/>
          </a:xfrm>
          <a:prstGeom prst="rect">
            <a:avLst/>
          </a:prstGeom>
          <a:noFill/>
          <a:ln/>
        </p:spPr>
        <p:txBody>
          <a:bodyPr wrap="none" lIns="0" tIns="0" rIns="0" bIns="0" rtlCol="0" anchor="t"/>
          <a:lstStyle/>
          <a:p>
            <a:pPr marL="0" indent="0" algn="l">
              <a:lnSpc>
                <a:spcPct val="104000"/>
              </a:lnSpc>
              <a:buNone/>
            </a:pPr>
            <a:r>
              <a:rPr lang="en-US" sz="2000" dirty="0">
                <a:solidFill>
                  <a:srgbClr val="E5E0DF"/>
                </a:solidFill>
                <a:latin typeface="Saira Medium" pitchFamily="34" charset="0"/>
                <a:ea typeface="Saira Medium" pitchFamily="34" charset="-122"/>
                <a:cs typeface="Saira Medium" pitchFamily="34" charset="-120"/>
              </a:rPr>
              <a:t>End-Game Detection</a:t>
            </a:r>
            <a:endParaRPr lang="en-US" sz="2000" dirty="0"/>
          </a:p>
        </p:txBody>
      </p:sp>
      <p:sp>
        <p:nvSpPr>
          <p:cNvPr id="12" name="Text 9"/>
          <p:cNvSpPr/>
          <p:nvPr/>
        </p:nvSpPr>
        <p:spPr>
          <a:xfrm>
            <a:off x="5379010" y="5334198"/>
            <a:ext cx="6005561" cy="65841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Checkmate, stalemate, and draw conditions are automatically detected and displayed.</a:t>
            </a:r>
            <a:endParaRPr lang="en-US" sz="1600" dirty="0"/>
          </a:p>
        </p:txBody>
      </p:sp>
      <p:pic>
        <p:nvPicPr>
          <p:cNvPr id="14" name="Picture 13">
            <a:extLst>
              <a:ext uri="{FF2B5EF4-FFF2-40B4-BE49-F238E27FC236}">
                <a16:creationId xmlns:a16="http://schemas.microsoft.com/office/drawing/2014/main" id="{4484A281-581A-92DB-40B6-589A85C1659E}"/>
              </a:ext>
            </a:extLst>
          </p:cNvPr>
          <p:cNvPicPr>
            <a:picLocks noChangeAspect="1"/>
          </p:cNvPicPr>
          <p:nvPr/>
        </p:nvPicPr>
        <p:blipFill>
          <a:blip r:embed="rId4"/>
          <a:stretch>
            <a:fillRect/>
          </a:stretch>
        </p:blipFill>
        <p:spPr>
          <a:xfrm>
            <a:off x="10236560" y="6429374"/>
            <a:ext cx="1955440" cy="3716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6050" y="606623"/>
            <a:ext cx="11039596" cy="632817"/>
          </a:xfrm>
          <a:prstGeom prst="rect">
            <a:avLst/>
          </a:prstGeom>
          <a:noFill/>
          <a:ln/>
        </p:spPr>
        <p:txBody>
          <a:bodyPr wrap="none" lIns="0" tIns="0" rIns="0" bIns="0" rtlCol="0" anchor="t"/>
          <a:lstStyle/>
          <a:p>
            <a:pPr marL="0" indent="0" algn="l">
              <a:lnSpc>
                <a:spcPct val="104000"/>
              </a:lnSpc>
              <a:buNone/>
            </a:pPr>
            <a:r>
              <a:rPr lang="en-US" sz="3950" dirty="0">
                <a:solidFill>
                  <a:srgbClr val="FFFFFF"/>
                </a:solidFill>
                <a:latin typeface="Saira Medium" pitchFamily="34" charset="0"/>
                <a:ea typeface="Saira Medium" pitchFamily="34" charset="-122"/>
                <a:cs typeface="Saira Medium" pitchFamily="34" charset="-120"/>
              </a:rPr>
              <a:t>Game Management Features</a:t>
            </a:r>
            <a:endParaRPr lang="en-US" sz="3950" dirty="0"/>
          </a:p>
        </p:txBody>
      </p:sp>
      <p:sp>
        <p:nvSpPr>
          <p:cNvPr id="3" name="Text 1"/>
          <p:cNvSpPr/>
          <p:nvPr/>
        </p:nvSpPr>
        <p:spPr>
          <a:xfrm>
            <a:off x="576050" y="1638102"/>
            <a:ext cx="11615645" cy="321469"/>
          </a:xfrm>
          <a:prstGeom prst="rect">
            <a:avLst/>
          </a:prstGeom>
          <a:noFill/>
          <a:ln/>
        </p:spPr>
        <p:txBody>
          <a:bodyPr wrap="none" lIns="0" tIns="0" rIns="0" bIns="0" rtlCol="0" anchor="t"/>
          <a:lstStyle/>
          <a:p>
            <a:pPr marL="0" indent="0" algn="l">
              <a:lnSpc>
                <a:spcPct val="132000"/>
              </a:lnSpc>
              <a:buNone/>
            </a:pPr>
            <a:r>
              <a:rPr lang="en-US" sz="1550" dirty="0">
                <a:solidFill>
                  <a:srgbClr val="E5E0DF"/>
                </a:solidFill>
                <a:latin typeface="Roboto" pitchFamily="34" charset="0"/>
                <a:ea typeface="Roboto" pitchFamily="34" charset="-122"/>
                <a:cs typeface="Roboto" pitchFamily="34" charset="-120"/>
              </a:rPr>
              <a:t>The system goes beyond basic gameplay with a rich set of management and history tools.</a:t>
            </a:r>
            <a:endParaRPr lang="en-US" sz="15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6050" y="2183805"/>
            <a:ext cx="506301" cy="506313"/>
          </a:xfrm>
          <a:prstGeom prst="rect">
            <a:avLst/>
          </a:prstGeom>
        </p:spPr>
      </p:pic>
      <p:sp>
        <p:nvSpPr>
          <p:cNvPr id="5" name="Text 2"/>
          <p:cNvSpPr/>
          <p:nvPr/>
        </p:nvSpPr>
        <p:spPr>
          <a:xfrm>
            <a:off x="576050" y="2939256"/>
            <a:ext cx="5395182" cy="316508"/>
          </a:xfrm>
          <a:prstGeom prst="rect">
            <a:avLst/>
          </a:prstGeom>
          <a:noFill/>
          <a:ln/>
        </p:spPr>
        <p:txBody>
          <a:bodyPr wrap="none" lIns="0" tIns="0" rIns="0" bIns="0" rtlCol="0" anchor="t"/>
          <a:lstStyle/>
          <a:p>
            <a:pPr marL="0" indent="0" algn="l">
              <a:lnSpc>
                <a:spcPct val="104000"/>
              </a:lnSpc>
              <a:buNone/>
            </a:pPr>
            <a:r>
              <a:rPr lang="en-US" sz="1950" dirty="0">
                <a:solidFill>
                  <a:srgbClr val="E5E0DF"/>
                </a:solidFill>
                <a:latin typeface="Saira Medium" pitchFamily="34" charset="0"/>
                <a:ea typeface="Saira Medium" pitchFamily="34" charset="-122"/>
                <a:cs typeface="Saira Medium" pitchFamily="34" charset="-120"/>
              </a:rPr>
              <a:t>Move History &amp; Search</a:t>
            </a:r>
            <a:endParaRPr lang="en-US" sz="1950" dirty="0"/>
          </a:p>
        </p:txBody>
      </p:sp>
      <p:sp>
        <p:nvSpPr>
          <p:cNvPr id="6" name="Text 3"/>
          <p:cNvSpPr/>
          <p:nvPr/>
        </p:nvSpPr>
        <p:spPr>
          <a:xfrm>
            <a:off x="576050" y="3375323"/>
            <a:ext cx="5395182" cy="642938"/>
          </a:xfrm>
          <a:prstGeom prst="rect">
            <a:avLst/>
          </a:prstGeom>
          <a:noFill/>
          <a:ln/>
        </p:spPr>
        <p:txBody>
          <a:bodyPr wrap="square" lIns="0" tIns="0" rIns="0" bIns="0" rtlCol="0" anchor="t">
            <a:normAutofit/>
          </a:bodyPr>
          <a:lstStyle/>
          <a:p>
            <a:pPr marL="0" indent="0" algn="l">
              <a:lnSpc>
                <a:spcPct val="132000"/>
              </a:lnSpc>
              <a:buNone/>
            </a:pPr>
            <a:r>
              <a:rPr lang="en-US" sz="1550" dirty="0">
                <a:solidFill>
                  <a:srgbClr val="E5E0DF"/>
                </a:solidFill>
                <a:latin typeface="Roboto" pitchFamily="34" charset="0"/>
                <a:ea typeface="Roboto" pitchFamily="34" charset="-122"/>
                <a:cs typeface="Roboto" pitchFamily="34" charset="-120"/>
              </a:rPr>
              <a:t>Every move is recorded. Players can search the full move log at any time.</a:t>
            </a:r>
            <a:endParaRPr lang="en-US" sz="15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20364" y="2183805"/>
            <a:ext cx="506301" cy="506313"/>
          </a:xfrm>
          <a:prstGeom prst="rect">
            <a:avLst/>
          </a:prstGeom>
        </p:spPr>
      </p:pic>
      <p:sp>
        <p:nvSpPr>
          <p:cNvPr id="8" name="Text 4"/>
          <p:cNvSpPr/>
          <p:nvPr/>
        </p:nvSpPr>
        <p:spPr>
          <a:xfrm>
            <a:off x="6220364" y="2939256"/>
            <a:ext cx="5395281" cy="316508"/>
          </a:xfrm>
          <a:prstGeom prst="rect">
            <a:avLst/>
          </a:prstGeom>
          <a:noFill/>
          <a:ln/>
        </p:spPr>
        <p:txBody>
          <a:bodyPr wrap="none" lIns="0" tIns="0" rIns="0" bIns="0" rtlCol="0" anchor="t"/>
          <a:lstStyle/>
          <a:p>
            <a:pPr marL="0" indent="0" algn="l">
              <a:lnSpc>
                <a:spcPct val="104000"/>
              </a:lnSpc>
              <a:buNone/>
            </a:pPr>
            <a:r>
              <a:rPr lang="en-US" sz="1950" dirty="0">
                <a:solidFill>
                  <a:srgbClr val="E5E0DF"/>
                </a:solidFill>
                <a:latin typeface="Saira Medium" pitchFamily="34" charset="0"/>
                <a:ea typeface="Saira Medium" pitchFamily="34" charset="-122"/>
                <a:cs typeface="Saira Medium" pitchFamily="34" charset="-120"/>
              </a:rPr>
              <a:t>Undo &amp; Redo</a:t>
            </a:r>
            <a:endParaRPr lang="en-US" sz="1950" dirty="0"/>
          </a:p>
        </p:txBody>
      </p:sp>
      <p:sp>
        <p:nvSpPr>
          <p:cNvPr id="9" name="Text 5"/>
          <p:cNvSpPr/>
          <p:nvPr/>
        </p:nvSpPr>
        <p:spPr>
          <a:xfrm>
            <a:off x="6220364" y="3375323"/>
            <a:ext cx="5395281" cy="642938"/>
          </a:xfrm>
          <a:prstGeom prst="rect">
            <a:avLst/>
          </a:prstGeom>
          <a:noFill/>
          <a:ln/>
        </p:spPr>
        <p:txBody>
          <a:bodyPr wrap="square" lIns="0" tIns="0" rIns="0" bIns="0" rtlCol="0" anchor="t">
            <a:normAutofit/>
          </a:bodyPr>
          <a:lstStyle/>
          <a:p>
            <a:pPr marL="0" indent="0" algn="l">
              <a:lnSpc>
                <a:spcPct val="132000"/>
              </a:lnSpc>
              <a:buNone/>
            </a:pPr>
            <a:r>
              <a:rPr lang="en-US" sz="1550" dirty="0">
                <a:solidFill>
                  <a:srgbClr val="E5E0DF"/>
                </a:solidFill>
                <a:latin typeface="Roboto" pitchFamily="34" charset="0"/>
                <a:ea typeface="Roboto" pitchFamily="34" charset="-122"/>
                <a:cs typeface="Roboto" pitchFamily="34" charset="-120"/>
              </a:rPr>
              <a:t>Step backward and forward through the game using stack-based LIFO operations.</a:t>
            </a:r>
            <a:endParaRPr lang="en-US" sz="15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6050" y="4416921"/>
            <a:ext cx="506301" cy="506313"/>
          </a:xfrm>
          <a:prstGeom prst="rect">
            <a:avLst/>
          </a:prstGeom>
        </p:spPr>
      </p:pic>
      <p:sp>
        <p:nvSpPr>
          <p:cNvPr id="11" name="Text 6"/>
          <p:cNvSpPr/>
          <p:nvPr/>
        </p:nvSpPr>
        <p:spPr>
          <a:xfrm>
            <a:off x="576050" y="5172373"/>
            <a:ext cx="5395182" cy="316508"/>
          </a:xfrm>
          <a:prstGeom prst="rect">
            <a:avLst/>
          </a:prstGeom>
          <a:noFill/>
          <a:ln/>
        </p:spPr>
        <p:txBody>
          <a:bodyPr wrap="none" lIns="0" tIns="0" rIns="0" bIns="0" rtlCol="0" anchor="t"/>
          <a:lstStyle/>
          <a:p>
            <a:pPr marL="0" indent="0" algn="l">
              <a:lnSpc>
                <a:spcPct val="104000"/>
              </a:lnSpc>
              <a:buNone/>
            </a:pPr>
            <a:r>
              <a:rPr lang="en-US" sz="1950" dirty="0">
                <a:solidFill>
                  <a:srgbClr val="E5E0DF"/>
                </a:solidFill>
                <a:latin typeface="Saira Medium" pitchFamily="34" charset="0"/>
                <a:ea typeface="Saira Medium" pitchFamily="34" charset="-122"/>
                <a:cs typeface="Saira Medium" pitchFamily="34" charset="-120"/>
              </a:rPr>
              <a:t>Player Rankings</a:t>
            </a:r>
            <a:endParaRPr lang="en-US" sz="1950" dirty="0"/>
          </a:p>
        </p:txBody>
      </p:sp>
      <p:sp>
        <p:nvSpPr>
          <p:cNvPr id="12" name="Text 7"/>
          <p:cNvSpPr/>
          <p:nvPr/>
        </p:nvSpPr>
        <p:spPr>
          <a:xfrm>
            <a:off x="576050" y="5608439"/>
            <a:ext cx="5395182" cy="642938"/>
          </a:xfrm>
          <a:prstGeom prst="rect">
            <a:avLst/>
          </a:prstGeom>
          <a:noFill/>
          <a:ln/>
        </p:spPr>
        <p:txBody>
          <a:bodyPr wrap="square" lIns="0" tIns="0" rIns="0" bIns="0" rtlCol="0" anchor="t">
            <a:normAutofit/>
          </a:bodyPr>
          <a:lstStyle/>
          <a:p>
            <a:pPr marL="0" indent="0" algn="l">
              <a:lnSpc>
                <a:spcPct val="132000"/>
              </a:lnSpc>
              <a:buNone/>
            </a:pPr>
            <a:r>
              <a:rPr lang="en-US" sz="1550" dirty="0">
                <a:solidFill>
                  <a:srgbClr val="E5E0DF"/>
                </a:solidFill>
                <a:latin typeface="Roboto" pitchFamily="34" charset="0"/>
                <a:ea typeface="Roboto" pitchFamily="34" charset="-122"/>
                <a:cs typeface="Roboto" pitchFamily="34" charset="-120"/>
              </a:rPr>
              <a:t>A binary search tree organizes player records, with inorder traversal for sorted display.</a:t>
            </a:r>
            <a:endParaRPr lang="en-US" sz="15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20364" y="4416921"/>
            <a:ext cx="506301" cy="506313"/>
          </a:xfrm>
          <a:prstGeom prst="rect">
            <a:avLst/>
          </a:prstGeom>
        </p:spPr>
      </p:pic>
      <p:sp>
        <p:nvSpPr>
          <p:cNvPr id="14" name="Text 8"/>
          <p:cNvSpPr/>
          <p:nvPr/>
        </p:nvSpPr>
        <p:spPr>
          <a:xfrm>
            <a:off x="6220364" y="5172373"/>
            <a:ext cx="5395281" cy="316508"/>
          </a:xfrm>
          <a:prstGeom prst="rect">
            <a:avLst/>
          </a:prstGeom>
          <a:noFill/>
          <a:ln/>
        </p:spPr>
        <p:txBody>
          <a:bodyPr wrap="none" lIns="0" tIns="0" rIns="0" bIns="0" rtlCol="0" anchor="t"/>
          <a:lstStyle/>
          <a:p>
            <a:pPr marL="0" indent="0" algn="l">
              <a:lnSpc>
                <a:spcPct val="104000"/>
              </a:lnSpc>
              <a:buNone/>
            </a:pPr>
            <a:r>
              <a:rPr lang="en-US" sz="1950" dirty="0">
                <a:solidFill>
                  <a:srgbClr val="E5E0DF"/>
                </a:solidFill>
                <a:latin typeface="Saira Medium" pitchFamily="34" charset="0"/>
                <a:ea typeface="Saira Medium" pitchFamily="34" charset="-122"/>
                <a:cs typeface="Saira Medium" pitchFamily="34" charset="-120"/>
              </a:rPr>
              <a:t>Save &amp; Load Games</a:t>
            </a:r>
            <a:endParaRPr lang="en-US" sz="1950" dirty="0"/>
          </a:p>
        </p:txBody>
      </p:sp>
      <p:sp>
        <p:nvSpPr>
          <p:cNvPr id="15" name="Text 9"/>
          <p:cNvSpPr/>
          <p:nvPr/>
        </p:nvSpPr>
        <p:spPr>
          <a:xfrm>
            <a:off x="6220364" y="5608439"/>
            <a:ext cx="5395281" cy="642938"/>
          </a:xfrm>
          <a:prstGeom prst="rect">
            <a:avLst/>
          </a:prstGeom>
          <a:noFill/>
          <a:ln/>
        </p:spPr>
        <p:txBody>
          <a:bodyPr wrap="square" lIns="0" tIns="0" rIns="0" bIns="0" rtlCol="0" anchor="t">
            <a:normAutofit/>
          </a:bodyPr>
          <a:lstStyle/>
          <a:p>
            <a:pPr marL="0" indent="0" algn="l">
              <a:lnSpc>
                <a:spcPct val="132000"/>
              </a:lnSpc>
              <a:buNone/>
            </a:pPr>
            <a:r>
              <a:rPr lang="en-US" sz="1550" dirty="0">
                <a:solidFill>
                  <a:srgbClr val="E5E0DF"/>
                </a:solidFill>
                <a:latin typeface="Roboto" pitchFamily="34" charset="0"/>
                <a:ea typeface="Roboto" pitchFamily="34" charset="-122"/>
                <a:cs typeface="Roboto" pitchFamily="34" charset="-120"/>
              </a:rPr>
              <a:t>Persist game state to disk and resume play across sessions seamlessly.</a:t>
            </a:r>
            <a:endParaRPr lang="en-US" sz="1550" dirty="0"/>
          </a:p>
        </p:txBody>
      </p:sp>
      <p:pic>
        <p:nvPicPr>
          <p:cNvPr id="17" name="Picture 16">
            <a:extLst>
              <a:ext uri="{FF2B5EF4-FFF2-40B4-BE49-F238E27FC236}">
                <a16:creationId xmlns:a16="http://schemas.microsoft.com/office/drawing/2014/main" id="{B803EFC7-704F-C57F-CE52-6244005F3DDF}"/>
              </a:ext>
            </a:extLst>
          </p:cNvPr>
          <p:cNvPicPr>
            <a:picLocks noChangeAspect="1"/>
          </p:cNvPicPr>
          <p:nvPr/>
        </p:nvPicPr>
        <p:blipFill>
          <a:blip r:embed="rId7"/>
          <a:stretch>
            <a:fillRect/>
          </a:stretch>
        </p:blipFill>
        <p:spPr>
          <a:xfrm>
            <a:off x="10463808" y="6529559"/>
            <a:ext cx="1727887" cy="3284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6050" y="610195"/>
            <a:ext cx="11039596" cy="592634"/>
          </a:xfrm>
          <a:prstGeom prst="rect">
            <a:avLst/>
          </a:prstGeom>
          <a:noFill/>
          <a:ln/>
        </p:spPr>
        <p:txBody>
          <a:bodyPr wrap="none" lIns="0" tIns="0" rIns="0" bIns="0" rtlCol="0" anchor="t"/>
          <a:lstStyle/>
          <a:p>
            <a:pPr marL="0" indent="0" algn="l">
              <a:lnSpc>
                <a:spcPct val="104000"/>
              </a:lnSpc>
              <a:buNone/>
            </a:pPr>
            <a:r>
              <a:rPr lang="en-US" sz="3700" dirty="0">
                <a:solidFill>
                  <a:srgbClr val="FFFFFF"/>
                </a:solidFill>
                <a:latin typeface="Saira Medium" pitchFamily="34" charset="0"/>
                <a:ea typeface="Saira Medium" pitchFamily="34" charset="-122"/>
                <a:cs typeface="Saira Medium" pitchFamily="34" charset="-120"/>
              </a:rPr>
              <a:t>Core Data Structures </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6050" y="1552476"/>
            <a:ext cx="5432388" cy="2260203"/>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50017" y="1710531"/>
            <a:ext cx="284453" cy="284460"/>
          </a:xfrm>
          <a:prstGeom prst="rect">
            <a:avLst/>
          </a:prstGeom>
        </p:spPr>
      </p:pic>
      <p:sp>
        <p:nvSpPr>
          <p:cNvPr id="5" name="Text 1"/>
          <p:cNvSpPr/>
          <p:nvPr/>
        </p:nvSpPr>
        <p:spPr>
          <a:xfrm>
            <a:off x="791051" y="2321620"/>
            <a:ext cx="5002385" cy="296366"/>
          </a:xfrm>
          <a:prstGeom prst="rect">
            <a:avLst/>
          </a:prstGeom>
          <a:noFill/>
          <a:ln/>
        </p:spPr>
        <p:txBody>
          <a:bodyPr wrap="none" lIns="0" tIns="0" rIns="0" bIns="0" rtlCol="0" anchor="t"/>
          <a:lstStyle/>
          <a:p>
            <a:pPr marL="0" indent="0" algn="l">
              <a:lnSpc>
                <a:spcPct val="104000"/>
              </a:lnSpc>
              <a:buNone/>
            </a:pPr>
            <a:r>
              <a:rPr lang="en-US" sz="1850" dirty="0">
                <a:solidFill>
                  <a:srgbClr val="E5E0DF"/>
                </a:solidFill>
                <a:latin typeface="Saira Medium" pitchFamily="34" charset="0"/>
                <a:ea typeface="Saira Medium" pitchFamily="34" charset="-122"/>
                <a:cs typeface="Saira Medium" pitchFamily="34" charset="-120"/>
              </a:rPr>
              <a:t>2D Array — The Chessboard</a:t>
            </a:r>
            <a:endParaRPr lang="en-US" sz="1850" dirty="0"/>
          </a:p>
        </p:txBody>
      </p:sp>
      <p:sp>
        <p:nvSpPr>
          <p:cNvPr id="6" name="Text 2"/>
          <p:cNvSpPr/>
          <p:nvPr/>
        </p:nvSpPr>
        <p:spPr>
          <a:xfrm>
            <a:off x="791051" y="2722860"/>
            <a:ext cx="5002385" cy="874812"/>
          </a:xfrm>
          <a:prstGeom prst="rect">
            <a:avLst/>
          </a:prstGeom>
          <a:noFill/>
          <a:ln/>
        </p:spPr>
        <p:txBody>
          <a:bodyPr wrap="square" lIns="0" tIns="0" rIns="0" bIns="0" rtlCol="0" anchor="t">
            <a:normAutofit/>
          </a:bodyPr>
          <a:lstStyle/>
          <a:p>
            <a:pPr marL="0" indent="0" algn="l">
              <a:lnSpc>
                <a:spcPct val="128000"/>
              </a:lnSpc>
              <a:buNone/>
            </a:pPr>
            <a:r>
              <a:rPr lang="en-US" sz="1450" dirty="0">
                <a:solidFill>
                  <a:srgbClr val="E5E0DF"/>
                </a:solidFill>
                <a:latin typeface="Roboto" pitchFamily="34" charset="0"/>
                <a:ea typeface="Roboto" pitchFamily="34" charset="-122"/>
                <a:cs typeface="Roboto" pitchFamily="34" charset="-120"/>
              </a:rPr>
              <a:t>An </a:t>
            </a:r>
            <a:r>
              <a:rPr lang="en-US" sz="1450" b="1" dirty="0">
                <a:solidFill>
                  <a:srgbClr val="E5E0DF"/>
                </a:solidFill>
                <a:latin typeface="Roboto Bold" pitchFamily="34" charset="0"/>
                <a:ea typeface="Roboto Bold" pitchFamily="34" charset="-122"/>
                <a:cs typeface="Roboto Bold" pitchFamily="34" charset="-120"/>
              </a:rPr>
              <a:t>8×8 two-dimensional array</a:t>
            </a:r>
            <a:r>
              <a:rPr lang="en-US" sz="1450" dirty="0">
                <a:solidFill>
                  <a:srgbClr val="E5E0DF"/>
                </a:solidFill>
                <a:latin typeface="Roboto" pitchFamily="34" charset="0"/>
                <a:ea typeface="Roboto" pitchFamily="34" charset="-122"/>
                <a:cs typeface="Roboto" pitchFamily="34" charset="-120"/>
              </a:rPr>
              <a:t> represents the board. Each cell holds a piece object or null, enabling O(1) access to any square.</a:t>
            </a:r>
            <a:endParaRPr lang="en-US" sz="14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3257" y="1552476"/>
            <a:ext cx="5432388" cy="2260203"/>
          </a:xfrm>
          <a:prstGeom prst="rect">
            <a:avLst/>
          </a:prstGeom>
        </p:spPr>
      </p:pic>
      <p:pic>
        <p:nvPicPr>
          <p:cNvPr id="8"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7225" y="1710531"/>
            <a:ext cx="284453" cy="284460"/>
          </a:xfrm>
          <a:prstGeom prst="rect">
            <a:avLst/>
          </a:prstGeom>
        </p:spPr>
      </p:pic>
      <p:sp>
        <p:nvSpPr>
          <p:cNvPr id="9" name="Text 3"/>
          <p:cNvSpPr/>
          <p:nvPr/>
        </p:nvSpPr>
        <p:spPr>
          <a:xfrm>
            <a:off x="6398259" y="2321620"/>
            <a:ext cx="5002385" cy="296366"/>
          </a:xfrm>
          <a:prstGeom prst="rect">
            <a:avLst/>
          </a:prstGeom>
          <a:noFill/>
          <a:ln/>
        </p:spPr>
        <p:txBody>
          <a:bodyPr wrap="none" lIns="0" tIns="0" rIns="0" bIns="0" rtlCol="0" anchor="t"/>
          <a:lstStyle/>
          <a:p>
            <a:pPr marL="0" indent="0" algn="l">
              <a:lnSpc>
                <a:spcPct val="104000"/>
              </a:lnSpc>
              <a:buNone/>
            </a:pPr>
            <a:r>
              <a:rPr lang="en-US" sz="1850" dirty="0">
                <a:solidFill>
                  <a:srgbClr val="E5E0DF"/>
                </a:solidFill>
                <a:latin typeface="Saira Medium" pitchFamily="34" charset="0"/>
                <a:ea typeface="Saira Medium" pitchFamily="34" charset="-122"/>
                <a:cs typeface="Saira Medium" pitchFamily="34" charset="-120"/>
              </a:rPr>
              <a:t>Linked List — Move History</a:t>
            </a:r>
            <a:endParaRPr lang="en-US" sz="1850" dirty="0"/>
          </a:p>
        </p:txBody>
      </p:sp>
      <p:sp>
        <p:nvSpPr>
          <p:cNvPr id="10" name="Text 4"/>
          <p:cNvSpPr/>
          <p:nvPr/>
        </p:nvSpPr>
        <p:spPr>
          <a:xfrm>
            <a:off x="6398259" y="2722860"/>
            <a:ext cx="5002385" cy="874812"/>
          </a:xfrm>
          <a:prstGeom prst="rect">
            <a:avLst/>
          </a:prstGeom>
          <a:noFill/>
          <a:ln/>
        </p:spPr>
        <p:txBody>
          <a:bodyPr wrap="square" lIns="0" tIns="0" rIns="0" bIns="0" rtlCol="0" anchor="t">
            <a:normAutofit/>
          </a:bodyPr>
          <a:lstStyle/>
          <a:p>
            <a:pPr marL="0" indent="0" algn="l">
              <a:lnSpc>
                <a:spcPct val="128000"/>
              </a:lnSpc>
              <a:buNone/>
            </a:pPr>
            <a:r>
              <a:rPr lang="en-US" sz="1450" dirty="0">
                <a:solidFill>
                  <a:srgbClr val="E5E0DF"/>
                </a:solidFill>
                <a:latin typeface="Roboto" pitchFamily="34" charset="0"/>
                <a:ea typeface="Roboto" pitchFamily="34" charset="-122"/>
                <a:cs typeface="Roboto" pitchFamily="34" charset="-120"/>
              </a:rPr>
              <a:t>A </a:t>
            </a:r>
            <a:r>
              <a:rPr lang="en-US" sz="1450" b="1" dirty="0">
                <a:solidFill>
                  <a:srgbClr val="E5E0DF"/>
                </a:solidFill>
                <a:latin typeface="Roboto Bold" pitchFamily="34" charset="0"/>
                <a:ea typeface="Roboto Bold" pitchFamily="34" charset="-122"/>
                <a:cs typeface="Roboto Bold" pitchFamily="34" charset="-120"/>
              </a:rPr>
              <a:t>custom singly linked list</a:t>
            </a:r>
            <a:r>
              <a:rPr lang="en-US" sz="1450" dirty="0">
                <a:solidFill>
                  <a:srgbClr val="E5E0DF"/>
                </a:solidFill>
                <a:latin typeface="Roboto" pitchFamily="34" charset="0"/>
                <a:ea typeface="Roboto" pitchFamily="34" charset="-122"/>
                <a:cs typeface="Roboto" pitchFamily="34" charset="-120"/>
              </a:rPr>
              <a:t> stores every move in sequence. Nodes are appended dynamically, allowing unlimited history without pre-allocation.</a:t>
            </a:r>
            <a:endParaRPr lang="en-US" sz="1450" dirty="0"/>
          </a:p>
        </p:txBody>
      </p:sp>
      <p:pic>
        <p:nvPicPr>
          <p:cNvPr id="1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6050" y="3987502"/>
            <a:ext cx="5432388" cy="2260203"/>
          </a:xfrm>
          <a:prstGeom prst="rect">
            <a:avLst/>
          </a:prstGeom>
        </p:spPr>
      </p:pic>
      <p:pic>
        <p:nvPicPr>
          <p:cNvPr id="12"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0017" y="4145558"/>
            <a:ext cx="284453" cy="284460"/>
          </a:xfrm>
          <a:prstGeom prst="rect">
            <a:avLst/>
          </a:prstGeom>
        </p:spPr>
      </p:pic>
      <p:sp>
        <p:nvSpPr>
          <p:cNvPr id="13" name="Text 5"/>
          <p:cNvSpPr/>
          <p:nvPr/>
        </p:nvSpPr>
        <p:spPr>
          <a:xfrm>
            <a:off x="791051" y="4756646"/>
            <a:ext cx="5002385" cy="296366"/>
          </a:xfrm>
          <a:prstGeom prst="rect">
            <a:avLst/>
          </a:prstGeom>
          <a:noFill/>
          <a:ln/>
        </p:spPr>
        <p:txBody>
          <a:bodyPr wrap="none" lIns="0" tIns="0" rIns="0" bIns="0" rtlCol="0" anchor="t"/>
          <a:lstStyle/>
          <a:p>
            <a:pPr marL="0" indent="0" algn="l">
              <a:lnSpc>
                <a:spcPct val="104000"/>
              </a:lnSpc>
              <a:buNone/>
            </a:pPr>
            <a:r>
              <a:rPr lang="en-US" sz="1850" dirty="0">
                <a:solidFill>
                  <a:srgbClr val="E5E0DF"/>
                </a:solidFill>
                <a:latin typeface="Saira Medium" pitchFamily="34" charset="0"/>
                <a:ea typeface="Saira Medium" pitchFamily="34" charset="-122"/>
                <a:cs typeface="Saira Medium" pitchFamily="34" charset="-120"/>
              </a:rPr>
              <a:t>Stack — Undo &amp; Redo</a:t>
            </a:r>
            <a:endParaRPr lang="en-US" sz="1850" dirty="0"/>
          </a:p>
        </p:txBody>
      </p:sp>
      <p:sp>
        <p:nvSpPr>
          <p:cNvPr id="14" name="Text 6"/>
          <p:cNvSpPr/>
          <p:nvPr/>
        </p:nvSpPr>
        <p:spPr>
          <a:xfrm>
            <a:off x="791051" y="5157887"/>
            <a:ext cx="5002385" cy="874812"/>
          </a:xfrm>
          <a:prstGeom prst="rect">
            <a:avLst/>
          </a:prstGeom>
          <a:noFill/>
          <a:ln/>
        </p:spPr>
        <p:txBody>
          <a:bodyPr wrap="square" lIns="0" tIns="0" rIns="0" bIns="0" rtlCol="0" anchor="t">
            <a:normAutofit/>
          </a:bodyPr>
          <a:lstStyle/>
          <a:p>
            <a:pPr marL="0" indent="0" algn="l">
              <a:lnSpc>
                <a:spcPct val="128000"/>
              </a:lnSpc>
              <a:buNone/>
            </a:pPr>
            <a:r>
              <a:rPr lang="en-US" sz="1450" dirty="0">
                <a:solidFill>
                  <a:srgbClr val="E5E0DF"/>
                </a:solidFill>
                <a:latin typeface="Roboto" pitchFamily="34" charset="0"/>
                <a:ea typeface="Roboto" pitchFamily="34" charset="-122"/>
                <a:cs typeface="Roboto" pitchFamily="34" charset="-120"/>
              </a:rPr>
              <a:t>Two </a:t>
            </a:r>
            <a:r>
              <a:rPr lang="en-US" sz="1450" b="1" dirty="0">
                <a:solidFill>
                  <a:srgbClr val="E5E0DF"/>
                </a:solidFill>
                <a:latin typeface="Roboto Bold" pitchFamily="34" charset="0"/>
                <a:ea typeface="Roboto Bold" pitchFamily="34" charset="-122"/>
                <a:cs typeface="Roboto Bold" pitchFamily="34" charset="-120"/>
              </a:rPr>
              <a:t>LIFO stacks</a:t>
            </a:r>
            <a:r>
              <a:rPr lang="en-US" sz="1450" dirty="0">
                <a:solidFill>
                  <a:srgbClr val="E5E0DF"/>
                </a:solidFill>
                <a:latin typeface="Roboto" pitchFamily="34" charset="0"/>
                <a:ea typeface="Roboto" pitchFamily="34" charset="-122"/>
                <a:cs typeface="Roboto" pitchFamily="34" charset="-120"/>
              </a:rPr>
              <a:t> manage undo and redo operations. Each move pushed onto the undo stack can be popped and reversed instantly.</a:t>
            </a:r>
            <a:endParaRPr lang="en-US" sz="1450" dirty="0"/>
          </a:p>
        </p:txBody>
      </p:sp>
      <p:pic>
        <p:nvPicPr>
          <p:cNvPr id="15"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3257" y="3987502"/>
            <a:ext cx="5432388" cy="2260203"/>
          </a:xfrm>
          <a:prstGeom prst="rect">
            <a:avLst/>
          </a:prstGeom>
        </p:spPr>
      </p:pic>
      <p:pic>
        <p:nvPicPr>
          <p:cNvPr id="16"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57225" y="4145558"/>
            <a:ext cx="284453" cy="284460"/>
          </a:xfrm>
          <a:prstGeom prst="rect">
            <a:avLst/>
          </a:prstGeom>
        </p:spPr>
      </p:pic>
      <p:sp>
        <p:nvSpPr>
          <p:cNvPr id="17" name="Text 7"/>
          <p:cNvSpPr/>
          <p:nvPr/>
        </p:nvSpPr>
        <p:spPr>
          <a:xfrm>
            <a:off x="6398259" y="4756646"/>
            <a:ext cx="5002385" cy="296366"/>
          </a:xfrm>
          <a:prstGeom prst="rect">
            <a:avLst/>
          </a:prstGeom>
          <a:noFill/>
          <a:ln/>
        </p:spPr>
        <p:txBody>
          <a:bodyPr wrap="none" lIns="0" tIns="0" rIns="0" bIns="0" rtlCol="0" anchor="t"/>
          <a:lstStyle/>
          <a:p>
            <a:pPr marL="0" indent="0" algn="l">
              <a:lnSpc>
                <a:spcPct val="104000"/>
              </a:lnSpc>
              <a:buNone/>
            </a:pPr>
            <a:r>
              <a:rPr lang="en-US" sz="1850" dirty="0">
                <a:solidFill>
                  <a:srgbClr val="E5E0DF"/>
                </a:solidFill>
                <a:latin typeface="Saira Medium" pitchFamily="34" charset="0"/>
                <a:ea typeface="Saira Medium" pitchFamily="34" charset="-122"/>
                <a:cs typeface="Saira Medium" pitchFamily="34" charset="-120"/>
              </a:rPr>
              <a:t>Queue — Game Events</a:t>
            </a:r>
            <a:endParaRPr lang="en-US" sz="1850" dirty="0"/>
          </a:p>
        </p:txBody>
      </p:sp>
      <p:sp>
        <p:nvSpPr>
          <p:cNvPr id="18" name="Text 8"/>
          <p:cNvSpPr/>
          <p:nvPr/>
        </p:nvSpPr>
        <p:spPr>
          <a:xfrm>
            <a:off x="6398259" y="5157887"/>
            <a:ext cx="5002385" cy="583208"/>
          </a:xfrm>
          <a:prstGeom prst="rect">
            <a:avLst/>
          </a:prstGeom>
          <a:noFill/>
          <a:ln/>
        </p:spPr>
        <p:txBody>
          <a:bodyPr wrap="square" lIns="0" tIns="0" rIns="0" bIns="0" rtlCol="0" anchor="t">
            <a:normAutofit/>
          </a:bodyPr>
          <a:lstStyle/>
          <a:p>
            <a:pPr marL="0" indent="0" algn="l">
              <a:lnSpc>
                <a:spcPct val="128000"/>
              </a:lnSpc>
              <a:buNone/>
            </a:pPr>
            <a:r>
              <a:rPr lang="en-US" sz="1450" dirty="0">
                <a:solidFill>
                  <a:srgbClr val="E5E0DF"/>
                </a:solidFill>
                <a:latin typeface="Roboto" pitchFamily="34" charset="0"/>
                <a:ea typeface="Roboto" pitchFamily="34" charset="-122"/>
                <a:cs typeface="Roboto" pitchFamily="34" charset="-120"/>
              </a:rPr>
              <a:t>A </a:t>
            </a:r>
            <a:r>
              <a:rPr lang="en-US" sz="1450" b="1" dirty="0">
                <a:solidFill>
                  <a:srgbClr val="E5E0DF"/>
                </a:solidFill>
                <a:latin typeface="Roboto Bold" pitchFamily="34" charset="0"/>
                <a:ea typeface="Roboto Bold" pitchFamily="34" charset="-122"/>
                <a:cs typeface="Roboto Bold" pitchFamily="34" charset="-120"/>
              </a:rPr>
              <a:t>FIFO queue</a:t>
            </a:r>
            <a:r>
              <a:rPr lang="en-US" sz="1450" dirty="0">
                <a:solidFill>
                  <a:srgbClr val="E5E0DF"/>
                </a:solidFill>
                <a:latin typeface="Roboto" pitchFamily="34" charset="0"/>
                <a:ea typeface="Roboto" pitchFamily="34" charset="-122"/>
                <a:cs typeface="Roboto" pitchFamily="34" charset="-120"/>
              </a:rPr>
              <a:t> processes game events — moves, captures, checks, and promotions — in the exact order they occur.</a:t>
            </a:r>
            <a:endParaRPr lang="en-US" sz="1450" dirty="0"/>
          </a:p>
        </p:txBody>
      </p:sp>
      <p:pic>
        <p:nvPicPr>
          <p:cNvPr id="19" name="Picture 18">
            <a:extLst>
              <a:ext uri="{FF2B5EF4-FFF2-40B4-BE49-F238E27FC236}">
                <a16:creationId xmlns:a16="http://schemas.microsoft.com/office/drawing/2014/main" id="{F83643DC-A501-368D-6838-E135CEB90C6A}"/>
              </a:ext>
            </a:extLst>
          </p:cNvPr>
          <p:cNvPicPr>
            <a:picLocks noChangeAspect="1"/>
          </p:cNvPicPr>
          <p:nvPr/>
        </p:nvPicPr>
        <p:blipFill>
          <a:blip r:embed="rId8"/>
          <a:stretch>
            <a:fillRect/>
          </a:stretch>
        </p:blipFill>
        <p:spPr>
          <a:xfrm>
            <a:off x="9923863" y="6358766"/>
            <a:ext cx="2268137" cy="4311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6050" y="368690"/>
            <a:ext cx="11039596" cy="321469"/>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ckwell Extra Bold" panose="02060903040505020403" pitchFamily="18" charset="0"/>
                <a:ea typeface="Saira Medium" pitchFamily="34" charset="-122"/>
                <a:cs typeface="Saira Medium" pitchFamily="34" charset="-120"/>
              </a:rPr>
              <a:t>Advanced Data Structures </a:t>
            </a:r>
            <a:endParaRPr lang="en-US" sz="2400" dirty="0">
              <a:latin typeface="Rockwell Extra Bold" panose="02060903040505020403" pitchFamily="18" charset="0"/>
            </a:endParaRPr>
          </a:p>
        </p:txBody>
      </p:sp>
      <p:pic>
        <p:nvPicPr>
          <p:cNvPr id="3" name="Image 0" descr="preencoded.png"/>
          <p:cNvPicPr>
            <a:picLocks noChangeAspect="1"/>
          </p:cNvPicPr>
          <p:nvPr/>
        </p:nvPicPr>
        <p:blipFill>
          <a:blip r:embed="rId3"/>
          <a:stretch>
            <a:fillRect/>
          </a:stretch>
        </p:blipFill>
        <p:spPr>
          <a:xfrm>
            <a:off x="576050" y="1022152"/>
            <a:ext cx="5394388" cy="5394523"/>
          </a:xfrm>
          <a:prstGeom prst="rect">
            <a:avLst/>
          </a:prstGeom>
        </p:spPr>
      </p:pic>
      <p:sp>
        <p:nvSpPr>
          <p:cNvPr id="4" name="Text 1"/>
          <p:cNvSpPr/>
          <p:nvPr/>
        </p:nvSpPr>
        <p:spPr>
          <a:xfrm>
            <a:off x="6512762" y="1738779"/>
            <a:ext cx="5394388" cy="160734"/>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Saira Medium" pitchFamily="34" charset="0"/>
                <a:ea typeface="Saira Medium" pitchFamily="34" charset="-122"/>
                <a:cs typeface="Saira Medium" pitchFamily="34" charset="-120"/>
              </a:rPr>
              <a:t>Why These Structures?</a:t>
            </a:r>
            <a:endParaRPr lang="en-US" sz="2400" dirty="0"/>
          </a:p>
        </p:txBody>
      </p:sp>
      <p:sp>
        <p:nvSpPr>
          <p:cNvPr id="5" name="Text 2"/>
          <p:cNvSpPr/>
          <p:nvPr/>
        </p:nvSpPr>
        <p:spPr>
          <a:xfrm>
            <a:off x="6795471" y="2409509"/>
            <a:ext cx="5964088" cy="123428"/>
          </a:xfrm>
          <a:prstGeom prst="rect">
            <a:avLst/>
          </a:prstGeom>
          <a:noFill/>
          <a:ln/>
        </p:spPr>
        <p:txBody>
          <a:bodyPr wrap="none" lIns="0" tIns="0" rIns="0" bIns="0" rtlCol="0" anchor="t"/>
          <a:lstStyle/>
          <a:p>
            <a:pPr marL="0" indent="0" algn="l">
              <a:lnSpc>
                <a:spcPct val="100000"/>
              </a:lnSpc>
              <a:buNone/>
            </a:pPr>
            <a:r>
              <a:rPr lang="en-US" dirty="0">
                <a:solidFill>
                  <a:srgbClr val="E5E0DF"/>
                </a:solidFill>
                <a:latin typeface="Roboto" pitchFamily="34" charset="0"/>
                <a:ea typeface="Roboto" pitchFamily="34" charset="-122"/>
                <a:cs typeface="Roboto" pitchFamily="34" charset="-120"/>
              </a:rPr>
              <a:t>Built for speed and structure:</a:t>
            </a:r>
            <a:endParaRPr lang="en-US" dirty="0"/>
          </a:p>
        </p:txBody>
      </p:sp>
      <p:sp>
        <p:nvSpPr>
          <p:cNvPr id="6" name="Text 3"/>
          <p:cNvSpPr/>
          <p:nvPr/>
        </p:nvSpPr>
        <p:spPr>
          <a:xfrm>
            <a:off x="6797612" y="2881412"/>
            <a:ext cx="5394388" cy="547588"/>
          </a:xfrm>
          <a:prstGeom prst="rect">
            <a:avLst/>
          </a:prstGeom>
          <a:noFill/>
          <a:ln/>
        </p:spPr>
        <p:txBody>
          <a:bodyPr wrap="square" lIns="0" tIns="0" rIns="0" bIns="0" rtlCol="0" anchor="t">
            <a:noAutofit/>
          </a:bodyPr>
          <a:lstStyle/>
          <a:p>
            <a:pPr marL="162560" indent="-162560" algn="l">
              <a:lnSpc>
                <a:spcPct val="100000"/>
              </a:lnSpc>
              <a:buSzPct val="100000"/>
              <a:buChar char="•"/>
            </a:pPr>
            <a:r>
              <a:rPr lang="en-US" sz="1400" b="1" dirty="0">
                <a:solidFill>
                  <a:srgbClr val="E5E0DF"/>
                </a:solidFill>
                <a:latin typeface="Roboto Bold" pitchFamily="34" charset="0"/>
                <a:ea typeface="Roboto Bold" pitchFamily="34" charset="-122"/>
                <a:cs typeface="Roboto Bold" pitchFamily="34" charset="-120"/>
              </a:rPr>
              <a:t>Hash Table</a:t>
            </a:r>
            <a:r>
              <a:rPr lang="en-US" sz="1400" dirty="0">
                <a:solidFill>
                  <a:srgbClr val="E5E0DF"/>
                </a:solidFill>
                <a:latin typeface="Roboto" pitchFamily="34" charset="0"/>
                <a:ea typeface="Roboto" pitchFamily="34" charset="-122"/>
                <a:cs typeface="Roboto" pitchFamily="34" charset="-120"/>
              </a:rPr>
              <a:t> — O(1) move lookup</a:t>
            </a:r>
            <a:endParaRPr lang="en-US" sz="1400" dirty="0"/>
          </a:p>
          <a:p>
            <a:pPr marL="162560" indent="-162560" algn="l">
              <a:lnSpc>
                <a:spcPct val="100000"/>
              </a:lnSpc>
              <a:buSzPct val="100000"/>
              <a:buChar char="•"/>
            </a:pPr>
            <a:r>
              <a:rPr lang="en-US" sz="1400" b="1" dirty="0">
                <a:solidFill>
                  <a:srgbClr val="E5E0DF"/>
                </a:solidFill>
                <a:latin typeface="Roboto Bold" pitchFamily="34" charset="0"/>
                <a:ea typeface="Roboto Bold" pitchFamily="34" charset="-122"/>
                <a:cs typeface="Roboto Bold" pitchFamily="34" charset="-120"/>
              </a:rPr>
              <a:t>Graph</a:t>
            </a:r>
            <a:r>
              <a:rPr lang="en-US" sz="1400" dirty="0">
                <a:solidFill>
                  <a:srgbClr val="E5E0DF"/>
                </a:solidFill>
                <a:latin typeface="Roboto" pitchFamily="34" charset="0"/>
                <a:ea typeface="Roboto" pitchFamily="34" charset="-122"/>
                <a:cs typeface="Roboto" pitchFamily="34" charset="-120"/>
              </a:rPr>
              <a:t> — square-to-square movement</a:t>
            </a:r>
            <a:endParaRPr lang="en-US" sz="1400" dirty="0"/>
          </a:p>
          <a:p>
            <a:pPr marL="162560" indent="-162560" algn="l">
              <a:lnSpc>
                <a:spcPct val="100000"/>
              </a:lnSpc>
              <a:buSzPct val="100000"/>
              <a:buChar char="•"/>
            </a:pPr>
            <a:r>
              <a:rPr lang="en-US" sz="1400" b="1" dirty="0">
                <a:solidFill>
                  <a:srgbClr val="E5E0DF"/>
                </a:solidFill>
                <a:latin typeface="Roboto Bold" pitchFamily="34" charset="0"/>
                <a:ea typeface="Roboto Bold" pitchFamily="34" charset="-122"/>
                <a:cs typeface="Roboto Bold" pitchFamily="34" charset="-120"/>
              </a:rPr>
              <a:t>Binary Search Tree</a:t>
            </a:r>
            <a:r>
              <a:rPr lang="en-US" sz="1400" dirty="0">
                <a:solidFill>
                  <a:srgbClr val="E5E0DF"/>
                </a:solidFill>
                <a:latin typeface="Roboto" pitchFamily="34" charset="0"/>
                <a:ea typeface="Roboto" pitchFamily="34" charset="-122"/>
                <a:cs typeface="Roboto" pitchFamily="34" charset="-120"/>
              </a:rPr>
              <a:t> — sorted player rankings</a:t>
            </a:r>
            <a:endParaRPr lang="en-US" sz="1400" dirty="0"/>
          </a:p>
          <a:p>
            <a:pPr marL="162560" indent="-162560" algn="l">
              <a:lnSpc>
                <a:spcPct val="100000"/>
              </a:lnSpc>
              <a:buSzPct val="100000"/>
              <a:buChar char="•"/>
            </a:pPr>
            <a:r>
              <a:rPr lang="en-US" sz="1400" b="1" dirty="0">
                <a:solidFill>
                  <a:srgbClr val="E5E0DF"/>
                </a:solidFill>
                <a:latin typeface="Roboto Bold" pitchFamily="34" charset="0"/>
                <a:ea typeface="Roboto Bold" pitchFamily="34" charset="-122"/>
                <a:cs typeface="Roboto Bold" pitchFamily="34" charset="-120"/>
              </a:rPr>
              <a:t>Recursion</a:t>
            </a:r>
            <a:r>
              <a:rPr lang="en-US" sz="1400" dirty="0">
                <a:solidFill>
                  <a:srgbClr val="E5E0DF"/>
                </a:solidFill>
                <a:latin typeface="Roboto" pitchFamily="34" charset="0"/>
                <a:ea typeface="Roboto" pitchFamily="34" charset="-122"/>
                <a:cs typeface="Roboto" pitchFamily="34" charset="-120"/>
              </a:rPr>
              <a:t> — traversal and rule evaluation</a:t>
            </a:r>
            <a:endParaRPr lang="en-US" sz="1400" dirty="0"/>
          </a:p>
        </p:txBody>
      </p:sp>
      <p:pic>
        <p:nvPicPr>
          <p:cNvPr id="8" name="Picture 7">
            <a:extLst>
              <a:ext uri="{FF2B5EF4-FFF2-40B4-BE49-F238E27FC236}">
                <a16:creationId xmlns:a16="http://schemas.microsoft.com/office/drawing/2014/main" id="{51025FAC-E46A-6A9A-52BF-1127363836AE}"/>
              </a:ext>
            </a:extLst>
          </p:cNvPr>
          <p:cNvPicPr>
            <a:picLocks noChangeAspect="1"/>
          </p:cNvPicPr>
          <p:nvPr/>
        </p:nvPicPr>
        <p:blipFill>
          <a:blip r:embed="rId4"/>
          <a:stretch>
            <a:fillRect/>
          </a:stretch>
        </p:blipFill>
        <p:spPr>
          <a:xfrm>
            <a:off x="10007252" y="6400300"/>
            <a:ext cx="2106039" cy="4003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6050" y="1188938"/>
            <a:ext cx="11039596" cy="642938"/>
          </a:xfrm>
          <a:prstGeom prst="rect">
            <a:avLst/>
          </a:prstGeom>
          <a:noFill/>
          <a:ln/>
        </p:spPr>
        <p:txBody>
          <a:bodyPr wrap="none" lIns="0" tIns="0" rIns="0" bIns="0" rtlCol="0" anchor="t"/>
          <a:lstStyle/>
          <a:p>
            <a:pPr marL="0" indent="0" algn="l">
              <a:lnSpc>
                <a:spcPct val="104000"/>
              </a:lnSpc>
              <a:buNone/>
            </a:pPr>
            <a:r>
              <a:rPr lang="en-US" sz="4000" dirty="0">
                <a:solidFill>
                  <a:srgbClr val="FFFFFF"/>
                </a:solidFill>
                <a:latin typeface="Saira Medium" pitchFamily="34" charset="0"/>
                <a:ea typeface="Saira Medium" pitchFamily="34" charset="-122"/>
                <a:cs typeface="Saira Medium" pitchFamily="34" charset="-120"/>
              </a:rPr>
              <a:t>Data Structure Demonstration Panel</a:t>
            </a:r>
            <a:endParaRPr lang="en-US" sz="4000" dirty="0"/>
          </a:p>
        </p:txBody>
      </p:sp>
      <p:sp>
        <p:nvSpPr>
          <p:cNvPr id="3" name="Text 1"/>
          <p:cNvSpPr/>
          <p:nvPr/>
        </p:nvSpPr>
        <p:spPr>
          <a:xfrm>
            <a:off x="576050" y="2243336"/>
            <a:ext cx="11039596" cy="3425627"/>
          </a:xfrm>
          <a:prstGeom prst="rect">
            <a:avLst/>
          </a:prstGeom>
          <a:noFill/>
          <a:ln/>
        </p:spPr>
        <p:txBody>
          <a:bodyPr wrap="square" lIns="0" tIns="0" rIns="0" bIns="0" rtlCol="0" anchor="t">
            <a:normAutofit/>
          </a:bodyPr>
          <a:lstStyle/>
          <a:p>
            <a:pPr marL="0" indent="0" algn="l">
              <a:lnSpc>
                <a:spcPct val="133000"/>
              </a:lnSpc>
              <a:spcAft>
                <a:spcPts val="1800"/>
              </a:spcAft>
              <a:buNone/>
            </a:pPr>
            <a:r>
              <a:rPr lang="en-US" sz="1600" dirty="0">
                <a:solidFill>
                  <a:srgbClr val="E5E0DF"/>
                </a:solidFill>
                <a:latin typeface="Roboto" pitchFamily="34" charset="0"/>
                <a:ea typeface="Roboto" pitchFamily="34" charset="-122"/>
                <a:cs typeface="Roboto" pitchFamily="34" charset="-120"/>
              </a:rPr>
              <a:t>A key feature is the </a:t>
            </a:r>
            <a:r>
              <a:rPr lang="en-US" sz="1600" b="1" dirty="0">
                <a:solidFill>
                  <a:srgbClr val="E5E0DF"/>
                </a:solidFill>
                <a:latin typeface="Roboto Bold" pitchFamily="34" charset="0"/>
                <a:ea typeface="Roboto Bold" pitchFamily="34" charset="-122"/>
                <a:cs typeface="Roboto Bold" pitchFamily="34" charset="-120"/>
              </a:rPr>
              <a:t>live data-structure panel</a:t>
            </a:r>
            <a:r>
              <a:rPr lang="en-US" sz="1600" dirty="0">
                <a:solidFill>
                  <a:srgbClr val="E5E0DF"/>
                </a:solidFill>
                <a:latin typeface="Roboto" pitchFamily="34" charset="0"/>
                <a:ea typeface="Roboto" pitchFamily="34" charset="-122"/>
                <a:cs typeface="Roboto" pitchFamily="34" charset="-120"/>
              </a:rPr>
              <a:t>, which shows how each structure behaves during gameplay in real time. As moves are made, the panel updates to reveal how data is stored, searched, traversed, and reorganized, making abstract algorithms easier to understand, test, and debug.</a:t>
            </a:r>
            <a:endParaRPr lang="en-US" sz="1600" dirty="0"/>
          </a:p>
          <a:p>
            <a:pPr marL="0" indent="0" algn="l">
              <a:lnSpc>
                <a:spcPct val="133000"/>
              </a:lnSpc>
              <a:spcAft>
                <a:spcPts val="1800"/>
              </a:spcAft>
              <a:buNone/>
            </a:pPr>
            <a:r>
              <a:rPr lang="en-US" sz="1600" dirty="0">
                <a:solidFill>
                  <a:srgbClr val="E5E0DF"/>
                </a:solidFill>
                <a:latin typeface="Roboto" pitchFamily="34" charset="0"/>
                <a:ea typeface="Roboto" pitchFamily="34" charset="-122"/>
                <a:cs typeface="Roboto" pitchFamily="34" charset="-120"/>
              </a:rPr>
              <a:t>This visibility is especially valuable because it turns hidden logic into something players and developers can observe directly. Instead of treating data structures as theoretical concepts, the panel demonstrates their role in supporting fast lookups, ordered relationships, and step-by-step decision making. It also helps connect the rules of the game to the underlying code, showing why each structure matters and how it contributes to performance, clarity, and correctness.</a:t>
            </a:r>
            <a:endParaRPr lang="en-US" sz="1600" dirty="0"/>
          </a:p>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By visualizing the internal state at each moment, the panel makes complex ideas more intuitive and helps learners build a stronger mental model of how data structures work in practice.</a:t>
            </a:r>
            <a:endParaRPr lang="en-US" sz="1600" dirty="0"/>
          </a:p>
        </p:txBody>
      </p:sp>
      <p:pic>
        <p:nvPicPr>
          <p:cNvPr id="5" name="Picture 4">
            <a:extLst>
              <a:ext uri="{FF2B5EF4-FFF2-40B4-BE49-F238E27FC236}">
                <a16:creationId xmlns:a16="http://schemas.microsoft.com/office/drawing/2014/main" id="{24395FAD-59BF-05E2-BF8B-0269F43AD11A}"/>
              </a:ext>
            </a:extLst>
          </p:cNvPr>
          <p:cNvPicPr>
            <a:picLocks noChangeAspect="1"/>
          </p:cNvPicPr>
          <p:nvPr/>
        </p:nvPicPr>
        <p:blipFill>
          <a:blip r:embed="rId3"/>
          <a:stretch>
            <a:fillRect/>
          </a:stretch>
        </p:blipFill>
        <p:spPr>
          <a:xfrm>
            <a:off x="10030669" y="6447169"/>
            <a:ext cx="2161331" cy="4108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6050" y="598884"/>
            <a:ext cx="11039596" cy="642938"/>
          </a:xfrm>
          <a:prstGeom prst="rect">
            <a:avLst/>
          </a:prstGeom>
          <a:noFill/>
          <a:ln/>
        </p:spPr>
        <p:txBody>
          <a:bodyPr wrap="none" lIns="0" tIns="0" rIns="0" bIns="0" rtlCol="0" anchor="t"/>
          <a:lstStyle/>
          <a:p>
            <a:pPr marL="0" indent="0" algn="l">
              <a:lnSpc>
                <a:spcPct val="104000"/>
              </a:lnSpc>
              <a:buNone/>
            </a:pPr>
            <a:r>
              <a:rPr lang="en-US" sz="4000" dirty="0">
                <a:solidFill>
                  <a:srgbClr val="FFFFFF"/>
                </a:solidFill>
                <a:latin typeface="Saira Medium" pitchFamily="34" charset="0"/>
                <a:ea typeface="Saira Medium" pitchFamily="34" charset="-122"/>
                <a:cs typeface="Saira Medium" pitchFamily="34" charset="-120"/>
              </a:rPr>
              <a:t>Demonstration Features</a:t>
            </a:r>
            <a:endParaRPr lang="en-US" sz="4000" dirty="0"/>
          </a:p>
        </p:txBody>
      </p:sp>
      <p:sp>
        <p:nvSpPr>
          <p:cNvPr id="3" name="Text 1"/>
          <p:cNvSpPr/>
          <p:nvPr/>
        </p:nvSpPr>
        <p:spPr>
          <a:xfrm>
            <a:off x="576050" y="1653282"/>
            <a:ext cx="11615645" cy="329208"/>
          </a:xfrm>
          <a:prstGeom prst="rect">
            <a:avLst/>
          </a:prstGeom>
          <a:noFill/>
          <a:ln/>
        </p:spPr>
        <p:txBody>
          <a:bodyPr wrap="none" lIns="0" tIns="0" rIns="0" bIns="0" rtlCol="0" anchor="t"/>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       The system includes several key features designed to demonstrate the underlying data structures in action.     </a:t>
            </a:r>
            <a:endParaRPr lang="en-US" sz="1600" dirty="0"/>
          </a:p>
        </p:txBody>
      </p:sp>
      <p:sp>
        <p:nvSpPr>
          <p:cNvPr id="4" name="Shape 2"/>
          <p:cNvSpPr/>
          <p:nvPr/>
        </p:nvSpPr>
        <p:spPr>
          <a:xfrm>
            <a:off x="576050" y="2213868"/>
            <a:ext cx="3542715" cy="617141"/>
          </a:xfrm>
          <a:prstGeom prst="roundRect">
            <a:avLst>
              <a:gd name="adj" fmla="val 49999"/>
            </a:avLst>
          </a:prstGeom>
          <a:solidFill>
            <a:srgbClr val="030303"/>
          </a:solidFill>
          <a:ln w="25399">
            <a:solidFill>
              <a:srgbClr val="FC8337"/>
            </a:solidFill>
            <a:prstDash val="solid"/>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3076" y="2368153"/>
            <a:ext cx="308563" cy="308570"/>
          </a:xfrm>
          <a:prstGeom prst="rect">
            <a:avLst/>
          </a:prstGeom>
        </p:spPr>
      </p:pic>
      <p:sp>
        <p:nvSpPr>
          <p:cNvPr id="6" name="Text 3"/>
          <p:cNvSpPr/>
          <p:nvPr/>
        </p:nvSpPr>
        <p:spPr>
          <a:xfrm>
            <a:off x="781725" y="3036689"/>
            <a:ext cx="3131365" cy="321469"/>
          </a:xfrm>
          <a:prstGeom prst="rect">
            <a:avLst/>
          </a:prstGeom>
          <a:noFill/>
          <a:ln/>
        </p:spPr>
        <p:txBody>
          <a:bodyPr wrap="none" lIns="0" tIns="0" rIns="0" bIns="0" rtlCol="0" anchor="t"/>
          <a:lstStyle/>
          <a:p>
            <a:pPr marL="0" indent="0" algn="l">
              <a:lnSpc>
                <a:spcPct val="104000"/>
              </a:lnSpc>
              <a:buNone/>
            </a:pPr>
            <a:r>
              <a:rPr lang="en-US" sz="2000" dirty="0">
                <a:solidFill>
                  <a:srgbClr val="E5E0DF"/>
                </a:solidFill>
                <a:latin typeface="Saira Medium" pitchFamily="34" charset="0"/>
                <a:ea typeface="Saira Medium" pitchFamily="34" charset="-122"/>
                <a:cs typeface="Saira Medium" pitchFamily="34" charset="-120"/>
              </a:rPr>
              <a:t>Real-Time Updates</a:t>
            </a:r>
            <a:endParaRPr lang="en-US" sz="2000" dirty="0"/>
          </a:p>
        </p:txBody>
      </p:sp>
      <p:sp>
        <p:nvSpPr>
          <p:cNvPr id="7" name="Text 4"/>
          <p:cNvSpPr/>
          <p:nvPr/>
        </p:nvSpPr>
        <p:spPr>
          <a:xfrm>
            <a:off x="781725" y="3481586"/>
            <a:ext cx="3131365" cy="65841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Structures update as the game progresses, reflecting each move.</a:t>
            </a:r>
            <a:endParaRPr lang="en-US" sz="1600" dirty="0"/>
          </a:p>
        </p:txBody>
      </p:sp>
      <p:sp>
        <p:nvSpPr>
          <p:cNvPr id="8" name="Text 5"/>
          <p:cNvSpPr/>
          <p:nvPr/>
        </p:nvSpPr>
        <p:spPr>
          <a:xfrm>
            <a:off x="781725" y="4263430"/>
            <a:ext cx="3131365" cy="1789906"/>
          </a:xfrm>
          <a:prstGeom prst="rect">
            <a:avLst/>
          </a:prstGeom>
          <a:noFill/>
          <a:ln/>
        </p:spPr>
        <p:txBody>
          <a:bodyPr wrap="square" lIns="0" tIns="0" rIns="0" bIns="0" rtlCol="0" anchor="t">
            <a:normAutofit/>
          </a:bodyPr>
          <a:lstStyle/>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Shows state changes after actions</a:t>
            </a:r>
            <a:endParaRPr lang="en-US" sz="1600" dirty="0"/>
          </a:p>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Helps trace dynamic behavior</a:t>
            </a:r>
            <a:endParaRPr lang="en-US" sz="1600" dirty="0"/>
          </a:p>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Demonstrates live responsiveness</a:t>
            </a:r>
            <a:endParaRPr lang="en-US" sz="1600" dirty="0"/>
          </a:p>
        </p:txBody>
      </p:sp>
      <p:sp>
        <p:nvSpPr>
          <p:cNvPr id="9" name="Shape 6"/>
          <p:cNvSpPr/>
          <p:nvPr/>
        </p:nvSpPr>
        <p:spPr>
          <a:xfrm>
            <a:off x="4324440" y="2213868"/>
            <a:ext cx="3542715" cy="617141"/>
          </a:xfrm>
          <a:prstGeom prst="roundRect">
            <a:avLst>
              <a:gd name="adj" fmla="val 49999"/>
            </a:avLst>
          </a:prstGeom>
          <a:solidFill>
            <a:srgbClr val="030303"/>
          </a:solidFill>
          <a:ln w="25399">
            <a:solidFill>
              <a:srgbClr val="FC8337"/>
            </a:solidFill>
            <a:prstDash val="solid"/>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41467" y="2368153"/>
            <a:ext cx="308563" cy="308570"/>
          </a:xfrm>
          <a:prstGeom prst="rect">
            <a:avLst/>
          </a:prstGeom>
        </p:spPr>
      </p:pic>
      <p:sp>
        <p:nvSpPr>
          <p:cNvPr id="11" name="Text 7"/>
          <p:cNvSpPr/>
          <p:nvPr/>
        </p:nvSpPr>
        <p:spPr>
          <a:xfrm>
            <a:off x="4530116" y="3036689"/>
            <a:ext cx="3131365" cy="321469"/>
          </a:xfrm>
          <a:prstGeom prst="rect">
            <a:avLst/>
          </a:prstGeom>
          <a:noFill/>
          <a:ln/>
        </p:spPr>
        <p:txBody>
          <a:bodyPr wrap="none" lIns="0" tIns="0" rIns="0" bIns="0" rtlCol="0" anchor="t"/>
          <a:lstStyle/>
          <a:p>
            <a:pPr marL="0" indent="0" algn="l">
              <a:lnSpc>
                <a:spcPct val="104000"/>
              </a:lnSpc>
              <a:buNone/>
            </a:pPr>
            <a:r>
              <a:rPr lang="en-US" sz="2000" dirty="0">
                <a:solidFill>
                  <a:srgbClr val="E5E0DF"/>
                </a:solidFill>
                <a:latin typeface="Saira Medium" pitchFamily="34" charset="0"/>
                <a:ea typeface="Saira Medium" pitchFamily="34" charset="-122"/>
                <a:cs typeface="Saira Medium" pitchFamily="34" charset="-120"/>
              </a:rPr>
              <a:t>BFS Traversal Demo</a:t>
            </a:r>
            <a:endParaRPr lang="en-US" sz="2000" dirty="0"/>
          </a:p>
        </p:txBody>
      </p:sp>
      <p:sp>
        <p:nvSpPr>
          <p:cNvPr id="12" name="Text 8"/>
          <p:cNvSpPr/>
          <p:nvPr/>
        </p:nvSpPr>
        <p:spPr>
          <a:xfrm>
            <a:off x="4530116" y="3481586"/>
            <a:ext cx="3131365" cy="98762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The graph panel animates breadth-first search across board squares.</a:t>
            </a:r>
            <a:endParaRPr lang="en-US" sz="1600" dirty="0"/>
          </a:p>
        </p:txBody>
      </p:sp>
      <p:sp>
        <p:nvSpPr>
          <p:cNvPr id="13" name="Text 9"/>
          <p:cNvSpPr/>
          <p:nvPr/>
        </p:nvSpPr>
        <p:spPr>
          <a:xfrm>
            <a:off x="4530116" y="4592638"/>
            <a:ext cx="3131365" cy="1131491"/>
          </a:xfrm>
          <a:prstGeom prst="rect">
            <a:avLst/>
          </a:prstGeom>
          <a:noFill/>
          <a:ln/>
        </p:spPr>
        <p:txBody>
          <a:bodyPr wrap="square" lIns="0" tIns="0" rIns="0" bIns="0" rtlCol="0" anchor="t">
            <a:normAutofit/>
          </a:bodyPr>
          <a:lstStyle/>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Shows node visit order</a:t>
            </a:r>
            <a:endParaRPr lang="en-US" sz="1600" dirty="0"/>
          </a:p>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Explores neighbors first</a:t>
            </a:r>
            <a:endParaRPr lang="en-US" sz="1600" dirty="0"/>
          </a:p>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Clarifies pathfinding logic</a:t>
            </a:r>
            <a:endParaRPr lang="en-US" sz="1600" dirty="0"/>
          </a:p>
        </p:txBody>
      </p:sp>
      <p:sp>
        <p:nvSpPr>
          <p:cNvPr id="14" name="Shape 10"/>
          <p:cNvSpPr/>
          <p:nvPr/>
        </p:nvSpPr>
        <p:spPr>
          <a:xfrm>
            <a:off x="8072831" y="2213868"/>
            <a:ext cx="3542715" cy="617141"/>
          </a:xfrm>
          <a:prstGeom prst="roundRect">
            <a:avLst>
              <a:gd name="adj" fmla="val 49999"/>
            </a:avLst>
          </a:prstGeom>
          <a:solidFill>
            <a:srgbClr val="030303"/>
          </a:solidFill>
          <a:ln w="25399">
            <a:solidFill>
              <a:srgbClr val="FC8337"/>
            </a:solidFill>
            <a:prstDash val="solid"/>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89858" y="2368153"/>
            <a:ext cx="308563" cy="308570"/>
          </a:xfrm>
          <a:prstGeom prst="rect">
            <a:avLst/>
          </a:prstGeom>
        </p:spPr>
      </p:pic>
      <p:sp>
        <p:nvSpPr>
          <p:cNvPr id="16" name="Text 11"/>
          <p:cNvSpPr/>
          <p:nvPr/>
        </p:nvSpPr>
        <p:spPr>
          <a:xfrm>
            <a:off x="8278506" y="3036689"/>
            <a:ext cx="3131365" cy="321469"/>
          </a:xfrm>
          <a:prstGeom prst="rect">
            <a:avLst/>
          </a:prstGeom>
          <a:noFill/>
          <a:ln/>
        </p:spPr>
        <p:txBody>
          <a:bodyPr wrap="none" lIns="0" tIns="0" rIns="0" bIns="0" rtlCol="0" anchor="t"/>
          <a:lstStyle/>
          <a:p>
            <a:pPr marL="0" indent="0" algn="l">
              <a:lnSpc>
                <a:spcPct val="104000"/>
              </a:lnSpc>
              <a:buNone/>
            </a:pPr>
            <a:r>
              <a:rPr lang="en-US" sz="2000" dirty="0">
                <a:solidFill>
                  <a:srgbClr val="E5E0DF"/>
                </a:solidFill>
                <a:latin typeface="Saira Medium" pitchFamily="34" charset="0"/>
                <a:ea typeface="Saira Medium" pitchFamily="34" charset="-122"/>
                <a:cs typeface="Saira Medium" pitchFamily="34" charset="-120"/>
              </a:rPr>
              <a:t>Sorted Player Output</a:t>
            </a:r>
            <a:endParaRPr lang="en-US" sz="2000" dirty="0"/>
          </a:p>
        </p:txBody>
      </p:sp>
      <p:sp>
        <p:nvSpPr>
          <p:cNvPr id="17" name="Text 12"/>
          <p:cNvSpPr/>
          <p:nvPr/>
        </p:nvSpPr>
        <p:spPr>
          <a:xfrm>
            <a:off x="8278506" y="3481586"/>
            <a:ext cx="3131365" cy="98762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E5E0DF"/>
                </a:solidFill>
                <a:latin typeface="Roboto" pitchFamily="34" charset="0"/>
                <a:ea typeface="Roboto" pitchFamily="34" charset="-122"/>
                <a:cs typeface="Roboto" pitchFamily="34" charset="-120"/>
              </a:rPr>
              <a:t>Inorder BST traversal displays rankings in alphabetical or score order.</a:t>
            </a:r>
            <a:endParaRPr lang="en-US" sz="1600" dirty="0"/>
          </a:p>
        </p:txBody>
      </p:sp>
      <p:sp>
        <p:nvSpPr>
          <p:cNvPr id="18" name="Text 13"/>
          <p:cNvSpPr/>
          <p:nvPr/>
        </p:nvSpPr>
        <p:spPr>
          <a:xfrm>
            <a:off x="8278506" y="4592638"/>
            <a:ext cx="3131365" cy="1131491"/>
          </a:xfrm>
          <a:prstGeom prst="rect">
            <a:avLst/>
          </a:prstGeom>
          <a:noFill/>
          <a:ln/>
        </p:spPr>
        <p:txBody>
          <a:bodyPr wrap="square" lIns="0" tIns="0" rIns="0" bIns="0" rtlCol="0" anchor="t">
            <a:normAutofit/>
          </a:bodyPr>
          <a:lstStyle/>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Keeps records organized</a:t>
            </a:r>
            <a:endParaRPr lang="en-US" sz="1600" dirty="0"/>
          </a:p>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Shows recursive traversal</a:t>
            </a:r>
            <a:endParaRPr lang="en-US" sz="1600" dirty="0"/>
          </a:p>
          <a:p>
            <a:pPr marL="325120" indent="-325120" algn="l">
              <a:lnSpc>
                <a:spcPct val="133000"/>
              </a:lnSpc>
              <a:buSzPct val="100000"/>
              <a:buChar char="•"/>
            </a:pPr>
            <a:r>
              <a:rPr lang="en-US" sz="1600" dirty="0">
                <a:solidFill>
                  <a:srgbClr val="E5E0DF"/>
                </a:solidFill>
                <a:latin typeface="Roboto" pitchFamily="34" charset="0"/>
                <a:ea typeface="Roboto" pitchFamily="34" charset="-122"/>
                <a:cs typeface="Roboto" pitchFamily="34" charset="-120"/>
              </a:rPr>
              <a:t>Makes updates easier to read</a:t>
            </a:r>
            <a:endParaRPr lang="en-US" sz="1600" dirty="0"/>
          </a:p>
        </p:txBody>
      </p:sp>
      <p:pic>
        <p:nvPicPr>
          <p:cNvPr id="20" name="Picture 19">
            <a:extLst>
              <a:ext uri="{FF2B5EF4-FFF2-40B4-BE49-F238E27FC236}">
                <a16:creationId xmlns:a16="http://schemas.microsoft.com/office/drawing/2014/main" id="{9BA37703-FB2A-8252-0FC8-C9F1DFFD53FA}"/>
              </a:ext>
            </a:extLst>
          </p:cNvPr>
          <p:cNvPicPr>
            <a:picLocks noChangeAspect="1"/>
          </p:cNvPicPr>
          <p:nvPr/>
        </p:nvPicPr>
        <p:blipFill>
          <a:blip r:embed="rId6"/>
          <a:stretch>
            <a:fillRect/>
          </a:stretch>
        </p:blipFill>
        <p:spPr>
          <a:xfrm>
            <a:off x="10085656" y="6457679"/>
            <a:ext cx="2106039" cy="4003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8" y="0"/>
            <a:ext cx="4572191" cy="6858458"/>
          </a:xfrm>
          <a:prstGeom prst="rect">
            <a:avLst/>
          </a:prstGeom>
        </p:spPr>
      </p:pic>
      <p:sp>
        <p:nvSpPr>
          <p:cNvPr id="3" name="Text 0"/>
          <p:cNvSpPr/>
          <p:nvPr/>
        </p:nvSpPr>
        <p:spPr>
          <a:xfrm>
            <a:off x="576050" y="619919"/>
            <a:ext cx="6467710" cy="592634"/>
          </a:xfrm>
          <a:prstGeom prst="rect">
            <a:avLst/>
          </a:prstGeom>
          <a:noFill/>
          <a:ln/>
        </p:spPr>
        <p:txBody>
          <a:bodyPr wrap="none" lIns="0" tIns="0" rIns="0" bIns="0" rtlCol="0" anchor="t"/>
          <a:lstStyle/>
          <a:p>
            <a:pPr marL="0" indent="0" algn="l">
              <a:lnSpc>
                <a:spcPct val="104000"/>
              </a:lnSpc>
              <a:buNone/>
            </a:pPr>
            <a:r>
              <a:rPr lang="en-US" sz="3700" dirty="0">
                <a:solidFill>
                  <a:srgbClr val="FFFFFF"/>
                </a:solidFill>
                <a:latin typeface="Saira Medium" pitchFamily="34" charset="0"/>
                <a:ea typeface="Saira Medium" pitchFamily="34" charset="-122"/>
                <a:cs typeface="Saira Medium" pitchFamily="34" charset="-120"/>
              </a:rPr>
              <a:t>Key Takeaways</a:t>
            </a:r>
            <a:endParaRPr lang="en-US" sz="3700" dirty="0"/>
          </a:p>
        </p:txBody>
      </p:sp>
      <p:sp>
        <p:nvSpPr>
          <p:cNvPr id="4" name="Shape 1"/>
          <p:cNvSpPr/>
          <p:nvPr/>
        </p:nvSpPr>
        <p:spPr>
          <a:xfrm>
            <a:off x="576050" y="1474788"/>
            <a:ext cx="426729" cy="426740"/>
          </a:xfrm>
          <a:prstGeom prst="roundRect">
            <a:avLst>
              <a:gd name="adj" fmla="val 40001"/>
            </a:avLst>
          </a:prstGeom>
          <a:solidFill>
            <a:srgbClr val="030303"/>
          </a:solidFill>
          <a:ln w="19050">
            <a:solidFill>
              <a:srgbClr val="FC8337"/>
            </a:solidFill>
            <a:prstDash val="solid"/>
          </a:ln>
        </p:spPr>
      </p:sp>
      <p:sp>
        <p:nvSpPr>
          <p:cNvPr id="5" name="Text 2"/>
          <p:cNvSpPr/>
          <p:nvPr/>
        </p:nvSpPr>
        <p:spPr>
          <a:xfrm>
            <a:off x="647138" y="1510308"/>
            <a:ext cx="284453" cy="355600"/>
          </a:xfrm>
          <a:prstGeom prst="rect">
            <a:avLst/>
          </a:prstGeom>
          <a:noFill/>
          <a:ln/>
        </p:spPr>
        <p:txBody>
          <a:bodyPr wrap="none" lIns="0" tIns="0" rIns="0" bIns="0" rtlCol="0" anchor="ctr"/>
          <a:lstStyle/>
          <a:p>
            <a:pPr marL="0" indent="0" algn="ctr">
              <a:lnSpc>
                <a:spcPct val="100000"/>
              </a:lnSpc>
              <a:buNone/>
            </a:pPr>
            <a:r>
              <a:rPr lang="en-US" sz="2200" dirty="0">
                <a:solidFill>
                  <a:srgbClr val="E5E0DF"/>
                </a:solidFill>
                <a:latin typeface="Saira Medium" pitchFamily="34" charset="0"/>
                <a:ea typeface="Saira Medium" pitchFamily="34" charset="-122"/>
                <a:cs typeface="Saira Medium" pitchFamily="34" charset="-120"/>
              </a:rPr>
              <a:t>1</a:t>
            </a:r>
            <a:endParaRPr lang="en-US" sz="2200" dirty="0"/>
          </a:p>
        </p:txBody>
      </p:sp>
      <p:sp>
        <p:nvSpPr>
          <p:cNvPr id="6" name="Text 3"/>
          <p:cNvSpPr/>
          <p:nvPr/>
        </p:nvSpPr>
        <p:spPr>
          <a:xfrm>
            <a:off x="1177598" y="1539974"/>
            <a:ext cx="5866162" cy="296366"/>
          </a:xfrm>
          <a:prstGeom prst="rect">
            <a:avLst/>
          </a:prstGeom>
          <a:noFill/>
          <a:ln/>
        </p:spPr>
        <p:txBody>
          <a:bodyPr wrap="none" lIns="0" tIns="0" rIns="0" bIns="0" rtlCol="0" anchor="t"/>
          <a:lstStyle/>
          <a:p>
            <a:pPr marL="0" indent="0" algn="l">
              <a:lnSpc>
                <a:spcPct val="104000"/>
              </a:lnSpc>
              <a:buNone/>
            </a:pPr>
            <a:r>
              <a:rPr lang="en-US" sz="1850" dirty="0">
                <a:solidFill>
                  <a:srgbClr val="E5E0DF"/>
                </a:solidFill>
                <a:latin typeface="Saira Medium" pitchFamily="34" charset="0"/>
                <a:ea typeface="Saira Medium" pitchFamily="34" charset="-122"/>
                <a:cs typeface="Saira Medium" pitchFamily="34" charset="-120"/>
              </a:rPr>
              <a:t>Structures in Context</a:t>
            </a:r>
            <a:endParaRPr lang="en-US" sz="1850" dirty="0"/>
          </a:p>
        </p:txBody>
      </p:sp>
      <p:sp>
        <p:nvSpPr>
          <p:cNvPr id="7" name="Text 4"/>
          <p:cNvSpPr/>
          <p:nvPr/>
        </p:nvSpPr>
        <p:spPr>
          <a:xfrm>
            <a:off x="1177598" y="1941215"/>
            <a:ext cx="5866162" cy="583208"/>
          </a:xfrm>
          <a:prstGeom prst="rect">
            <a:avLst/>
          </a:prstGeom>
          <a:noFill/>
          <a:ln/>
        </p:spPr>
        <p:txBody>
          <a:bodyPr wrap="square" lIns="0" tIns="0" rIns="0" bIns="0" rtlCol="0" anchor="t">
            <a:normAutofit/>
          </a:bodyPr>
          <a:lstStyle/>
          <a:p>
            <a:pPr marL="0" indent="0" algn="l">
              <a:lnSpc>
                <a:spcPct val="128000"/>
              </a:lnSpc>
              <a:buNone/>
            </a:pPr>
            <a:r>
              <a:rPr lang="en-US" sz="1450" dirty="0">
                <a:solidFill>
                  <a:srgbClr val="E5E0DF"/>
                </a:solidFill>
                <a:latin typeface="Roboto" pitchFamily="34" charset="0"/>
                <a:ea typeface="Roboto" pitchFamily="34" charset="-122"/>
                <a:cs typeface="Roboto" pitchFamily="34" charset="-120"/>
              </a:rPr>
              <a:t>Arrays, linked lists, stacks, queues, hash tables, graphs, and BSTs are not abstract — they power real systems.</a:t>
            </a:r>
            <a:endParaRPr lang="en-US" sz="1450" dirty="0"/>
          </a:p>
        </p:txBody>
      </p:sp>
      <p:sp>
        <p:nvSpPr>
          <p:cNvPr id="8" name="Shape 5"/>
          <p:cNvSpPr/>
          <p:nvPr/>
        </p:nvSpPr>
        <p:spPr>
          <a:xfrm>
            <a:off x="576050" y="2874070"/>
            <a:ext cx="426729" cy="426740"/>
          </a:xfrm>
          <a:prstGeom prst="roundRect">
            <a:avLst>
              <a:gd name="adj" fmla="val 40001"/>
            </a:avLst>
          </a:prstGeom>
          <a:solidFill>
            <a:srgbClr val="030303"/>
          </a:solidFill>
          <a:ln w="19050">
            <a:solidFill>
              <a:srgbClr val="FC8337"/>
            </a:solidFill>
            <a:prstDash val="solid"/>
          </a:ln>
        </p:spPr>
      </p:sp>
      <p:sp>
        <p:nvSpPr>
          <p:cNvPr id="9" name="Text 6"/>
          <p:cNvSpPr/>
          <p:nvPr/>
        </p:nvSpPr>
        <p:spPr>
          <a:xfrm>
            <a:off x="647138" y="2909590"/>
            <a:ext cx="284453" cy="355600"/>
          </a:xfrm>
          <a:prstGeom prst="rect">
            <a:avLst/>
          </a:prstGeom>
          <a:noFill/>
          <a:ln/>
        </p:spPr>
        <p:txBody>
          <a:bodyPr wrap="none" lIns="0" tIns="0" rIns="0" bIns="0" rtlCol="0" anchor="ctr"/>
          <a:lstStyle/>
          <a:p>
            <a:pPr marL="0" indent="0" algn="ctr">
              <a:lnSpc>
                <a:spcPct val="100000"/>
              </a:lnSpc>
              <a:buNone/>
            </a:pPr>
            <a:r>
              <a:rPr lang="en-US" sz="2200" dirty="0">
                <a:solidFill>
                  <a:srgbClr val="E5E0DF"/>
                </a:solidFill>
                <a:latin typeface="Saira Medium" pitchFamily="34" charset="0"/>
                <a:ea typeface="Saira Medium" pitchFamily="34" charset="-122"/>
                <a:cs typeface="Saira Medium" pitchFamily="34" charset="-120"/>
              </a:rPr>
              <a:t>2</a:t>
            </a:r>
            <a:endParaRPr lang="en-US" sz="2200" dirty="0"/>
          </a:p>
        </p:txBody>
      </p:sp>
      <p:sp>
        <p:nvSpPr>
          <p:cNvPr id="10" name="Text 7"/>
          <p:cNvSpPr/>
          <p:nvPr/>
        </p:nvSpPr>
        <p:spPr>
          <a:xfrm>
            <a:off x="1177598" y="2939256"/>
            <a:ext cx="5866162" cy="296366"/>
          </a:xfrm>
          <a:prstGeom prst="rect">
            <a:avLst/>
          </a:prstGeom>
          <a:noFill/>
          <a:ln/>
        </p:spPr>
        <p:txBody>
          <a:bodyPr wrap="none" lIns="0" tIns="0" rIns="0" bIns="0" rtlCol="0" anchor="t"/>
          <a:lstStyle/>
          <a:p>
            <a:pPr marL="0" indent="0" algn="l">
              <a:lnSpc>
                <a:spcPct val="104000"/>
              </a:lnSpc>
              <a:buNone/>
            </a:pPr>
            <a:r>
              <a:rPr lang="en-US" sz="1850" dirty="0">
                <a:solidFill>
                  <a:srgbClr val="E5E0DF"/>
                </a:solidFill>
                <a:latin typeface="Saira Medium" pitchFamily="34" charset="0"/>
                <a:ea typeface="Saira Medium" pitchFamily="34" charset="-122"/>
                <a:cs typeface="Saira Medium" pitchFamily="34" charset="-120"/>
              </a:rPr>
              <a:t>Algorithmic Thinking</a:t>
            </a:r>
            <a:endParaRPr lang="en-US" sz="1850" dirty="0"/>
          </a:p>
        </p:txBody>
      </p:sp>
      <p:sp>
        <p:nvSpPr>
          <p:cNvPr id="11" name="Text 8"/>
          <p:cNvSpPr/>
          <p:nvPr/>
        </p:nvSpPr>
        <p:spPr>
          <a:xfrm>
            <a:off x="1177598" y="3340497"/>
            <a:ext cx="5866162" cy="583208"/>
          </a:xfrm>
          <a:prstGeom prst="rect">
            <a:avLst/>
          </a:prstGeom>
          <a:noFill/>
          <a:ln/>
        </p:spPr>
        <p:txBody>
          <a:bodyPr wrap="square" lIns="0" tIns="0" rIns="0" bIns="0" rtlCol="0" anchor="t">
            <a:normAutofit/>
          </a:bodyPr>
          <a:lstStyle/>
          <a:p>
            <a:pPr marL="0" indent="0" algn="l">
              <a:lnSpc>
                <a:spcPct val="128000"/>
              </a:lnSpc>
              <a:buNone/>
            </a:pPr>
            <a:r>
              <a:rPr lang="en-US" sz="1450" dirty="0">
                <a:solidFill>
                  <a:srgbClr val="E5E0DF"/>
                </a:solidFill>
                <a:latin typeface="Roboto" pitchFamily="34" charset="0"/>
                <a:ea typeface="Roboto" pitchFamily="34" charset="-122"/>
                <a:cs typeface="Roboto" pitchFamily="34" charset="-120"/>
              </a:rPr>
              <a:t>Recursion, BFS traversal, and LIFO/FIFO logic solve concrete game-management problems elegantly.</a:t>
            </a:r>
            <a:endParaRPr lang="en-US" sz="1450" dirty="0"/>
          </a:p>
        </p:txBody>
      </p:sp>
      <p:sp>
        <p:nvSpPr>
          <p:cNvPr id="12" name="Shape 9"/>
          <p:cNvSpPr/>
          <p:nvPr/>
        </p:nvSpPr>
        <p:spPr>
          <a:xfrm>
            <a:off x="576050" y="4273352"/>
            <a:ext cx="426729" cy="426740"/>
          </a:xfrm>
          <a:prstGeom prst="roundRect">
            <a:avLst>
              <a:gd name="adj" fmla="val 40001"/>
            </a:avLst>
          </a:prstGeom>
          <a:solidFill>
            <a:srgbClr val="030303"/>
          </a:solidFill>
          <a:ln w="19050">
            <a:solidFill>
              <a:srgbClr val="FC8337"/>
            </a:solidFill>
            <a:prstDash val="solid"/>
          </a:ln>
        </p:spPr>
      </p:sp>
      <p:sp>
        <p:nvSpPr>
          <p:cNvPr id="13" name="Text 10"/>
          <p:cNvSpPr/>
          <p:nvPr/>
        </p:nvSpPr>
        <p:spPr>
          <a:xfrm>
            <a:off x="647138" y="4308872"/>
            <a:ext cx="284453" cy="355600"/>
          </a:xfrm>
          <a:prstGeom prst="rect">
            <a:avLst/>
          </a:prstGeom>
          <a:noFill/>
          <a:ln/>
        </p:spPr>
        <p:txBody>
          <a:bodyPr wrap="none" lIns="0" tIns="0" rIns="0" bIns="0" rtlCol="0" anchor="ctr"/>
          <a:lstStyle/>
          <a:p>
            <a:pPr marL="0" indent="0" algn="ctr">
              <a:lnSpc>
                <a:spcPct val="100000"/>
              </a:lnSpc>
              <a:buNone/>
            </a:pPr>
            <a:r>
              <a:rPr lang="en-US" sz="2200" dirty="0">
                <a:solidFill>
                  <a:srgbClr val="E5E0DF"/>
                </a:solidFill>
                <a:latin typeface="Saira Medium" pitchFamily="34" charset="0"/>
                <a:ea typeface="Saira Medium" pitchFamily="34" charset="-122"/>
                <a:cs typeface="Saira Medium" pitchFamily="34" charset="-120"/>
              </a:rPr>
              <a:t>3</a:t>
            </a:r>
            <a:endParaRPr lang="en-US" sz="2200" dirty="0"/>
          </a:p>
        </p:txBody>
      </p:sp>
      <p:sp>
        <p:nvSpPr>
          <p:cNvPr id="14" name="Text 11"/>
          <p:cNvSpPr/>
          <p:nvPr/>
        </p:nvSpPr>
        <p:spPr>
          <a:xfrm>
            <a:off x="1177598" y="4338538"/>
            <a:ext cx="5866162" cy="296366"/>
          </a:xfrm>
          <a:prstGeom prst="rect">
            <a:avLst/>
          </a:prstGeom>
          <a:noFill/>
          <a:ln/>
        </p:spPr>
        <p:txBody>
          <a:bodyPr wrap="none" lIns="0" tIns="0" rIns="0" bIns="0" rtlCol="0" anchor="t"/>
          <a:lstStyle/>
          <a:p>
            <a:pPr marL="0" indent="0" algn="l">
              <a:lnSpc>
                <a:spcPct val="104000"/>
              </a:lnSpc>
              <a:buNone/>
            </a:pPr>
            <a:r>
              <a:rPr lang="en-US" sz="1850" dirty="0">
                <a:solidFill>
                  <a:srgbClr val="E5E0DF"/>
                </a:solidFill>
                <a:latin typeface="Saira Medium" pitchFamily="34" charset="0"/>
                <a:ea typeface="Saira Medium" pitchFamily="34" charset="-122"/>
                <a:cs typeface="Saira Medium" pitchFamily="34" charset="-120"/>
              </a:rPr>
              <a:t>A Complete System</a:t>
            </a:r>
            <a:endParaRPr lang="en-US" sz="1850" dirty="0"/>
          </a:p>
        </p:txBody>
      </p:sp>
      <p:sp>
        <p:nvSpPr>
          <p:cNvPr id="15" name="Text 12"/>
          <p:cNvSpPr/>
          <p:nvPr/>
        </p:nvSpPr>
        <p:spPr>
          <a:xfrm>
            <a:off x="1177598" y="4739779"/>
            <a:ext cx="5866162" cy="583208"/>
          </a:xfrm>
          <a:prstGeom prst="rect">
            <a:avLst/>
          </a:prstGeom>
          <a:noFill/>
          <a:ln/>
        </p:spPr>
        <p:txBody>
          <a:bodyPr wrap="square" lIns="0" tIns="0" rIns="0" bIns="0" rtlCol="0" anchor="t">
            <a:normAutofit/>
          </a:bodyPr>
          <a:lstStyle/>
          <a:p>
            <a:pPr marL="0" indent="0" algn="l">
              <a:lnSpc>
                <a:spcPct val="128000"/>
              </a:lnSpc>
              <a:buNone/>
            </a:pPr>
            <a:r>
              <a:rPr lang="en-US" sz="1450" dirty="0">
                <a:solidFill>
                  <a:srgbClr val="E5E0DF"/>
                </a:solidFill>
                <a:latin typeface="Roboto" pitchFamily="34" charset="0"/>
                <a:ea typeface="Roboto" pitchFamily="34" charset="-122"/>
                <a:cs typeface="Roboto" pitchFamily="34" charset="-120"/>
              </a:rPr>
              <a:t>From rule validation to player rankings, every feature maps directly to a data structure — making this a practical, demonstrable project.</a:t>
            </a:r>
            <a:endParaRPr lang="en-US" sz="1450" dirty="0"/>
          </a:p>
        </p:txBody>
      </p:sp>
      <p:sp>
        <p:nvSpPr>
          <p:cNvPr id="16" name="Shape 13"/>
          <p:cNvSpPr/>
          <p:nvPr/>
        </p:nvSpPr>
        <p:spPr>
          <a:xfrm>
            <a:off x="576050" y="5519638"/>
            <a:ext cx="6467710" cy="718443"/>
          </a:xfrm>
          <a:prstGeom prst="roundRect">
            <a:avLst>
              <a:gd name="adj" fmla="val 23759"/>
            </a:avLst>
          </a:prstGeom>
          <a:solidFill>
            <a:srgbClr val="7E3202"/>
          </a:solidFill>
          <a:ln/>
        </p:spPr>
      </p:sp>
      <p:pic>
        <p:nvPicPr>
          <p:cNvPr id="17" name="Image 1" descr="preencoded.png"/>
          <p:cNvPicPr>
            <a:picLocks noChangeAspect="1"/>
          </p:cNvPicPr>
          <p:nvPr/>
        </p:nvPicPr>
        <p:blipFill>
          <a:blip r:embed="rId4"/>
          <a:stretch>
            <a:fillRect/>
          </a:stretch>
        </p:blipFill>
        <p:spPr>
          <a:xfrm>
            <a:off x="765652" y="5766296"/>
            <a:ext cx="237028" cy="189607"/>
          </a:xfrm>
          <a:prstGeom prst="rect">
            <a:avLst/>
          </a:prstGeom>
        </p:spPr>
      </p:pic>
      <p:sp>
        <p:nvSpPr>
          <p:cNvPr id="18" name="Text 14"/>
          <p:cNvSpPr/>
          <p:nvPr/>
        </p:nvSpPr>
        <p:spPr>
          <a:xfrm>
            <a:off x="1192282" y="5741789"/>
            <a:ext cx="6271460" cy="291604"/>
          </a:xfrm>
          <a:prstGeom prst="rect">
            <a:avLst/>
          </a:prstGeom>
          <a:noFill/>
          <a:ln/>
        </p:spPr>
        <p:txBody>
          <a:bodyPr wrap="none" lIns="0" tIns="0" rIns="0" bIns="0" rtlCol="0" anchor="t"/>
          <a:lstStyle/>
          <a:p>
            <a:pPr marL="0" indent="0" algn="l">
              <a:lnSpc>
                <a:spcPct val="128000"/>
              </a:lnSpc>
              <a:buNone/>
            </a:pPr>
            <a:r>
              <a:rPr lang="en-US" sz="1450" dirty="0">
                <a:solidFill>
                  <a:srgbClr val="FFFFFF"/>
                </a:solidFill>
                <a:latin typeface="Roboto" pitchFamily="34" charset="0"/>
                <a:ea typeface="Roboto" pitchFamily="34" charset="-122"/>
                <a:cs typeface="Roboto" pitchFamily="34" charset="-120"/>
              </a:rPr>
              <a:t>Explore the live project: </a:t>
            </a:r>
            <a:r>
              <a:rPr lang="en-US" sz="1450" b="1" dirty="0">
                <a:solidFill>
                  <a:srgbClr val="FFFFFF"/>
                </a:solidFill>
                <a:latin typeface="Roboto Bold" pitchFamily="34" charset="0"/>
                <a:ea typeface="Roboto Bold" pitchFamily="34" charset="-122"/>
                <a:cs typeface="Roboto Bold" pitchFamily="34" charset="-120"/>
              </a:rPr>
              <a:t>Chess Move Manager on Replit</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6050" y="1636514"/>
            <a:ext cx="11039596" cy="1285875"/>
          </a:xfrm>
          <a:prstGeom prst="rect">
            <a:avLst/>
          </a:prstGeom>
          <a:noFill/>
          <a:ln/>
        </p:spPr>
        <p:txBody>
          <a:bodyPr wrap="none" lIns="0" tIns="0" rIns="0" bIns="0" rtlCol="0" anchor="t"/>
          <a:lstStyle/>
          <a:p>
            <a:pPr marL="0" indent="0" algn="ctr">
              <a:lnSpc>
                <a:spcPct val="104000"/>
              </a:lnSpc>
              <a:buNone/>
            </a:pPr>
            <a:r>
              <a:rPr lang="en-US" sz="8050" dirty="0">
                <a:solidFill>
                  <a:srgbClr val="FFFFFF"/>
                </a:solidFill>
                <a:latin typeface="Saira Medium" pitchFamily="34" charset="0"/>
                <a:ea typeface="Saira Medium" pitchFamily="34" charset="-122"/>
                <a:cs typeface="Saira Medium" pitchFamily="34" charset="-120"/>
              </a:rPr>
              <a:t>Thank You!</a:t>
            </a:r>
            <a:endParaRPr lang="en-US" sz="8050" dirty="0"/>
          </a:p>
        </p:txBody>
      </p:sp>
      <p:sp>
        <p:nvSpPr>
          <p:cNvPr id="3" name="Text 1"/>
          <p:cNvSpPr/>
          <p:nvPr/>
        </p:nvSpPr>
        <p:spPr>
          <a:xfrm>
            <a:off x="576050" y="3230959"/>
            <a:ext cx="11039596" cy="658416"/>
          </a:xfrm>
          <a:prstGeom prst="rect">
            <a:avLst/>
          </a:prstGeom>
          <a:noFill/>
          <a:ln/>
        </p:spPr>
        <p:txBody>
          <a:bodyPr wrap="square" lIns="0" tIns="0" rIns="0" bIns="0" rtlCol="0" anchor="t">
            <a:normAutofit/>
          </a:bodyPr>
          <a:lstStyle/>
          <a:p>
            <a:pPr marL="0" indent="0" algn="ctr">
              <a:lnSpc>
                <a:spcPct val="133000"/>
              </a:lnSpc>
              <a:buNone/>
            </a:pPr>
            <a:r>
              <a:rPr lang="en-US" sz="1600" dirty="0">
                <a:solidFill>
                  <a:srgbClr val="E5E0DF"/>
                </a:solidFill>
                <a:latin typeface="Roboto" pitchFamily="34" charset="0"/>
                <a:ea typeface="Roboto" pitchFamily="34" charset="-122"/>
                <a:cs typeface="Roboto" pitchFamily="34" charset="-120"/>
              </a:rPr>
              <a:t>We trust this presentation has illuminated the design, implementation, and practical application of data structures within our </a:t>
            </a:r>
            <a:r>
              <a:rPr lang="en-US" sz="1600" b="1" dirty="0">
                <a:solidFill>
                  <a:srgbClr val="E5E0DF"/>
                </a:solidFill>
                <a:latin typeface="Roboto Bold" pitchFamily="34" charset="0"/>
                <a:ea typeface="Roboto Bold" pitchFamily="34" charset="-122"/>
                <a:cs typeface="Roboto Bold" pitchFamily="34" charset="-120"/>
              </a:rPr>
              <a:t>Chess Game &amp; Move Management System</a:t>
            </a:r>
            <a:r>
              <a:rPr lang="en-US" sz="1600" dirty="0">
                <a:solidFill>
                  <a:srgbClr val="E5E0DF"/>
                </a:solidFill>
                <a:latin typeface="Roboto" pitchFamily="34" charset="0"/>
                <a:ea typeface="Roboto" pitchFamily="34" charset="-122"/>
                <a:cs typeface="Roboto" pitchFamily="34" charset="-120"/>
              </a:rPr>
              <a:t>.</a:t>
            </a:r>
            <a:endParaRPr lang="en-US" sz="1600" dirty="0"/>
          </a:p>
        </p:txBody>
      </p:sp>
      <p:sp>
        <p:nvSpPr>
          <p:cNvPr id="4" name="Text 2"/>
          <p:cNvSpPr/>
          <p:nvPr/>
        </p:nvSpPr>
        <p:spPr>
          <a:xfrm>
            <a:off x="576050" y="4197945"/>
            <a:ext cx="11039596" cy="385663"/>
          </a:xfrm>
          <a:prstGeom prst="rect">
            <a:avLst/>
          </a:prstGeom>
          <a:noFill/>
          <a:ln/>
        </p:spPr>
        <p:txBody>
          <a:bodyPr wrap="none" lIns="0" tIns="0" rIns="0" bIns="0" rtlCol="0" anchor="t"/>
          <a:lstStyle/>
          <a:p>
            <a:pPr marL="0" indent="0" algn="ctr">
              <a:lnSpc>
                <a:spcPct val="104000"/>
              </a:lnSpc>
              <a:buNone/>
            </a:pPr>
            <a:r>
              <a:rPr lang="en-US" sz="2400" dirty="0">
                <a:solidFill>
                  <a:srgbClr val="FFFFFF"/>
                </a:solidFill>
                <a:latin typeface="Saira Medium" pitchFamily="34" charset="0"/>
                <a:ea typeface="Saira Medium" pitchFamily="34" charset="-122"/>
                <a:cs typeface="Saira Medium" pitchFamily="34" charset="-120"/>
              </a:rPr>
              <a:t>Questions &amp; Discussion</a:t>
            </a:r>
            <a:endParaRPr lang="en-US" sz="2400" dirty="0"/>
          </a:p>
        </p:txBody>
      </p:sp>
      <p:sp>
        <p:nvSpPr>
          <p:cNvPr id="5" name="Text 3"/>
          <p:cNvSpPr/>
          <p:nvPr/>
        </p:nvSpPr>
        <p:spPr>
          <a:xfrm>
            <a:off x="271257" y="4892179"/>
            <a:ext cx="11649180" cy="329208"/>
          </a:xfrm>
          <a:prstGeom prst="rect">
            <a:avLst/>
          </a:prstGeom>
          <a:noFill/>
          <a:ln/>
        </p:spPr>
        <p:txBody>
          <a:bodyPr wrap="none" lIns="0" tIns="0" rIns="0" bIns="0" rtlCol="0" anchor="t"/>
          <a:lstStyle/>
          <a:p>
            <a:pPr marL="0" indent="0" algn="ctr">
              <a:lnSpc>
                <a:spcPct val="133000"/>
              </a:lnSpc>
              <a:buNone/>
            </a:pPr>
            <a:r>
              <a:rPr lang="en-US" sz="1600" dirty="0">
                <a:solidFill>
                  <a:srgbClr val="E5E0DF"/>
                </a:solidFill>
                <a:latin typeface="Roboto" pitchFamily="34" charset="0"/>
                <a:ea typeface="Roboto" pitchFamily="34" charset="-122"/>
                <a:cs typeface="Roboto" pitchFamily="34" charset="-120"/>
              </a:rPr>
              <a:t>We are eager to hear your thoughts, answer any questions, and delve deeper into any aspect of the system. Let's discuss!</a:t>
            </a:r>
            <a:endParaRPr lang="en-US" sz="1600" dirty="0"/>
          </a:p>
        </p:txBody>
      </p:sp>
      <p:pic>
        <p:nvPicPr>
          <p:cNvPr id="7" name="Picture 6">
            <a:extLst>
              <a:ext uri="{FF2B5EF4-FFF2-40B4-BE49-F238E27FC236}">
                <a16:creationId xmlns:a16="http://schemas.microsoft.com/office/drawing/2014/main" id="{0CD56D85-73C8-9B1C-69FB-E5F47E03041C}"/>
              </a:ext>
            </a:extLst>
          </p:cNvPr>
          <p:cNvPicPr>
            <a:picLocks noChangeAspect="1"/>
          </p:cNvPicPr>
          <p:nvPr/>
        </p:nvPicPr>
        <p:blipFill>
          <a:blip r:embed="rId3"/>
          <a:stretch>
            <a:fillRect/>
          </a:stretch>
        </p:blipFill>
        <p:spPr>
          <a:xfrm>
            <a:off x="10460079" y="6528792"/>
            <a:ext cx="1731922" cy="3292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840</Words>
  <Application>Microsoft Office PowerPoint</Application>
  <PresentationFormat>Widescreen</PresentationFormat>
  <Paragraphs>92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Saira Medium</vt:lpstr>
      <vt:lpstr>Roboto</vt:lpstr>
      <vt:lpstr>Arial</vt:lpstr>
      <vt:lpstr>Roboto Bold</vt:lpstr>
      <vt:lpstr>Britannic Bold</vt:lpstr>
      <vt:lpstr>Rockwell Extra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Prachiti Suryawanshi</cp:lastModifiedBy>
  <cp:revision>3</cp:revision>
  <dcterms:created xsi:type="dcterms:W3CDTF">2026-09-26T14:45:57Z</dcterms:created>
  <dcterms:modified xsi:type="dcterms:W3CDTF">2026-09-27T13:44:30Z</dcterms:modified>
</cp:coreProperties>
</file>